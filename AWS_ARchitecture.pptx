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8" r:id="rId12"/>
    <p:sldId id="265" r:id="rId13"/>
    <p:sldId id="266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998FD0-2316-8B44-58AA-D4A425929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9B6AC0-25D1-E61B-7358-E7681A0BE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7BD9D3-4309-00BF-0933-80F82F5D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65BD10-84FB-8C3A-59E4-0FA433996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AFC4B8-518E-5171-7E3D-46E800F5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0705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FAECC-865A-5AD0-0547-A07ADBD1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474ECC-7F51-80DE-1AD4-A3573DB1B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191614-E356-9593-9DDF-898D0217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A849A9-8B06-A522-29FD-5D92C196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C8E0B7-87C2-C7F0-7FDC-EC5494C1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2996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2B896-5AA3-AA64-A5CF-59C981B1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394C07-C620-575C-A173-D832A3F9A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B35737-86F1-79FF-ACE7-2D71A570B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B1BD6C-B2A9-6662-402F-A06D2046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68DC70-E4F9-FE41-2382-95EA9CE2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8158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2D0909-C95B-95E9-4CDE-D06B67D8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A7F9B7-995B-1937-CF70-AE52375E7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33CF7B-BE46-9250-6AD3-16CD5C6CD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928358-FFA2-06CF-D564-242BACF6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923346-85A0-1BBE-659C-7C8A8EC73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6665C4-D223-CE62-EFF5-632953A3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4163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F43688-91C8-CCAF-1E6D-34F5DDA66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B5166F-0AE0-6CB5-79BF-42E1CDDD4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8C7E06E-37F1-8B88-C784-E2268B244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5982219-C1AF-B80A-D7D3-1977D3438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9DD6417-1378-1051-6E20-954B37432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B016AA7-3F5D-B46F-F3E3-C16670B9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612C1D-80EE-92FF-226C-BAE2219F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E9511F-903B-1D0E-621C-7744EB04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0186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7B8BF-4D71-0B78-AEB3-613391D2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0BC3FDA-A504-8437-5A8B-335589C5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F6C5F0B-E626-B721-0185-453FC14C2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7050E9-00E0-6F02-6193-DD390F12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6071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63019BF-C9B5-75B8-90BE-02A78A8B4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B71689C-17C7-248E-82DD-232731B4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D531CD-7364-EDC4-DAE4-976D8D1B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4379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BE5CC-8823-189D-9703-98EE80C6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D6DC4E-4790-FDF9-B4F5-199756D91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154C82-986A-401D-D464-74E98E5F7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6F4CE2-258B-B990-8477-D83F1CF4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E7740C-7DEB-B17F-F3CB-46F8792B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59C1A1-41F0-5315-86BF-2555CFB8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59678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0D4E1-808C-F1CE-4B07-84EE0DD2E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1656888-41F3-A059-86E9-005E14E93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AFC5ED6-A205-9C39-26EA-316E29259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C29527-8C9B-12BB-81AC-B8BBEE23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436311-CA87-00D1-0BA0-FA82D4F9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DC410C-EEDF-A690-9581-B52DC53F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70281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F0109-EBB4-CE15-1B53-7400626F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3EC43C4-306B-969F-6295-24E13928E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07802-C7C8-2019-C3D1-2ABDA272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45401F-564F-0B5A-A3C9-0B82DC0A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48A6BB-410E-D062-5728-2972A3A8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014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695D9ED-37D3-EDD8-DC8B-E83D7E2D9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C56B70-01D1-D0DB-FC9B-F271266BC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BA0B5D-8ADF-9A65-0DD0-E995B7A40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41656A-963A-528F-43FD-3EF89F3A9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53C529-0C00-4557-CF05-76914D71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68361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26AC4D-2C58-CBEB-8C4A-61A71EF1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20CEBF-F286-0BE7-69A0-1AED398EC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9B68C9-689B-3F7A-E8B5-5E75B7375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76C5F-E475-47D8-A2CE-456DE8F961A8}" type="datetimeFigureOut">
              <a:rPr lang="fr-CH" smtClean="0"/>
              <a:t>20.04.2026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A5E4F5-604C-3F61-1085-1EF40EA6E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779CB1-C035-59AB-4FBB-11FC90A8C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37FC3-C740-4BB1-9770-CFF5C9EC67C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3468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28E4E1-8ABE-B66D-FF23-968278A9B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AWS architecture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D2A3284-1787-41AE-2788-4C09C7EAAB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9984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0FCEA6-9719-EBC2-7168-EE1C0820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b="1" dirty="0"/>
              <a:t>The Full Data Path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7B3F76-67FD-25F6-9697-C652508D7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b="1" dirty="0"/>
              <a:t>Arduino R4:</a:t>
            </a:r>
            <a:r>
              <a:rPr lang="fr-CH" dirty="0"/>
              <a:t> </a:t>
            </a:r>
            <a:r>
              <a:rPr lang="fr-CH" dirty="0" err="1"/>
              <a:t>Sends</a:t>
            </a:r>
            <a:r>
              <a:rPr lang="fr-CH" dirty="0"/>
              <a:t> JSON via MQTT to AWS Topic </a:t>
            </a:r>
            <a:r>
              <a:rPr lang="fr-CH" dirty="0" err="1"/>
              <a:t>heater</a:t>
            </a:r>
            <a:r>
              <a:rPr lang="fr-CH" dirty="0"/>
              <a:t>/</a:t>
            </a:r>
            <a:r>
              <a:rPr lang="fr-CH" dirty="0" err="1"/>
              <a:t>telemetry</a:t>
            </a:r>
            <a:r>
              <a:rPr lang="fr-CH" dirty="0"/>
              <a:t>.</a:t>
            </a:r>
          </a:p>
          <a:p>
            <a:r>
              <a:rPr lang="fr-CH" b="1" dirty="0"/>
              <a:t>AWS IoT </a:t>
            </a:r>
            <a:r>
              <a:rPr lang="fr-CH" b="1" dirty="0" err="1"/>
              <a:t>Core</a:t>
            </a:r>
            <a:r>
              <a:rPr lang="fr-CH" b="1" dirty="0"/>
              <a:t>:</a:t>
            </a:r>
            <a:r>
              <a:rPr lang="fr-CH" dirty="0"/>
              <a:t> </a:t>
            </a:r>
            <a:r>
              <a:rPr lang="fr-CH" dirty="0" err="1"/>
              <a:t>Forwards</a:t>
            </a:r>
            <a:r>
              <a:rPr lang="fr-CH" dirty="0"/>
              <a:t> </a:t>
            </a:r>
            <a:r>
              <a:rPr lang="fr-CH" dirty="0" err="1"/>
              <a:t>that</a:t>
            </a:r>
            <a:r>
              <a:rPr lang="fr-CH" dirty="0"/>
              <a:t> JSON to </a:t>
            </a:r>
            <a:r>
              <a:rPr lang="fr-CH" dirty="0" err="1"/>
              <a:t>your</a:t>
            </a:r>
            <a:r>
              <a:rPr lang="fr-CH" dirty="0"/>
              <a:t> Node.js server.</a:t>
            </a:r>
          </a:p>
          <a:p>
            <a:r>
              <a:rPr lang="fr-CH" b="1" dirty="0"/>
              <a:t>Node.js Server:</a:t>
            </a:r>
            <a:r>
              <a:rPr lang="fr-CH" dirty="0"/>
              <a:t> </a:t>
            </a:r>
            <a:r>
              <a:rPr lang="fr-CH" dirty="0" err="1"/>
              <a:t>Receives</a:t>
            </a:r>
            <a:r>
              <a:rPr lang="fr-CH" dirty="0"/>
              <a:t> the MQTT message and </a:t>
            </a:r>
            <a:r>
              <a:rPr lang="fr-CH" dirty="0" err="1"/>
              <a:t>immediately</a:t>
            </a:r>
            <a:r>
              <a:rPr lang="fr-CH" dirty="0"/>
              <a:t> </a:t>
            </a:r>
            <a:r>
              <a:rPr lang="fr-CH" b="1" dirty="0" err="1"/>
              <a:t>emits</a:t>
            </a:r>
            <a:r>
              <a:rPr lang="fr-CH" dirty="0"/>
              <a:t> </a:t>
            </a:r>
            <a:r>
              <a:rPr lang="fr-CH" dirty="0" err="1"/>
              <a:t>it</a:t>
            </a:r>
            <a:r>
              <a:rPr lang="fr-CH" dirty="0"/>
              <a:t> to </a:t>
            </a:r>
            <a:r>
              <a:rPr lang="fr-CH" dirty="0" err="1"/>
              <a:t>your</a:t>
            </a:r>
            <a:r>
              <a:rPr lang="fr-CH" dirty="0"/>
              <a:t> web browser </a:t>
            </a:r>
            <a:r>
              <a:rPr lang="fr-CH" dirty="0" err="1"/>
              <a:t>using</a:t>
            </a:r>
            <a:r>
              <a:rPr lang="fr-CH" dirty="0"/>
              <a:t> Socket.io.</a:t>
            </a:r>
          </a:p>
          <a:p>
            <a:r>
              <a:rPr lang="fr-CH" b="1" dirty="0"/>
              <a:t>HTML Page:</a:t>
            </a:r>
            <a:r>
              <a:rPr lang="fr-CH" dirty="0"/>
              <a:t> A </a:t>
            </a:r>
            <a:r>
              <a:rPr lang="fr-CH" dirty="0" err="1"/>
              <a:t>small</a:t>
            </a:r>
            <a:r>
              <a:rPr lang="fr-CH" dirty="0"/>
              <a:t> </a:t>
            </a:r>
            <a:r>
              <a:rPr lang="fr-CH" dirty="0" err="1"/>
              <a:t>piece</a:t>
            </a:r>
            <a:r>
              <a:rPr lang="fr-CH" dirty="0"/>
              <a:t> of JavaScript catches </a:t>
            </a:r>
            <a:r>
              <a:rPr lang="fr-CH" dirty="0" err="1"/>
              <a:t>that</a:t>
            </a:r>
            <a:r>
              <a:rPr lang="fr-CH" dirty="0"/>
              <a:t> "</a:t>
            </a:r>
            <a:r>
              <a:rPr lang="fr-CH" dirty="0" err="1"/>
              <a:t>emit</a:t>
            </a:r>
            <a:r>
              <a:rPr lang="fr-CH" dirty="0"/>
              <a:t>" and updates the </a:t>
            </a:r>
            <a:r>
              <a:rPr lang="fr-CH" dirty="0" err="1"/>
              <a:t>text</a:t>
            </a:r>
            <a:r>
              <a:rPr lang="fr-CH" dirty="0"/>
              <a:t> on </a:t>
            </a:r>
            <a:r>
              <a:rPr lang="fr-CH" dirty="0" err="1"/>
              <a:t>your</a:t>
            </a:r>
            <a:r>
              <a:rPr lang="fr-CH" dirty="0"/>
              <a:t> screen </a:t>
            </a:r>
            <a:r>
              <a:rPr lang="fr-CH" dirty="0" err="1"/>
              <a:t>instantly</a:t>
            </a:r>
            <a:r>
              <a:rPr lang="fr-CH" dirty="0"/>
              <a:t>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0970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F69123-C96D-90C0-3E2D-5148AB119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System Architecture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51703B8-30A4-5884-B4C4-9A71BF42B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1202" y="1825625"/>
            <a:ext cx="47495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78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7E68D-618E-C41F-E919-4D920953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Project </a:t>
            </a:r>
            <a:r>
              <a:rPr lang="fr-CH" dirty="0" err="1"/>
              <a:t>Overview</a:t>
            </a:r>
            <a:r>
              <a:rPr lang="fr-CH" dirty="0"/>
              <a:t> &amp; Vision</a:t>
            </a:r>
            <a:br>
              <a:rPr lang="en-US" dirty="0"/>
            </a:br>
            <a:r>
              <a:rPr lang="en-US" dirty="0"/>
              <a:t>The Smart Heater: Moving to Global Scale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5AEAD3-2402-FEE9-E339-773943AE44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2122" y="2111635"/>
            <a:ext cx="1061167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Transition the Arduino R4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Heater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local network to a global, production-grade IoT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Tech Stack: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Arduino R4 (Wi-Fi).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 IoT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(The Secure Message Broker).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(The Business Logic &amp; Real-time Bridge).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HTML5/JavaScript (The Interactive Dashboard).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86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F3DD5D-5F8B-EC18-98A2-ADF3AE4FC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Security &amp; Hardware </a:t>
            </a:r>
            <a:r>
              <a:rPr lang="fr-CH" dirty="0" err="1"/>
              <a:t>Integrity</a:t>
            </a:r>
            <a:r>
              <a:rPr lang="fr-CH" dirty="0"/>
              <a:t> : </a:t>
            </a:r>
            <a:br>
              <a:rPr lang="fr-CH" dirty="0"/>
            </a:br>
            <a:r>
              <a:rPr lang="fr-CH" dirty="0"/>
              <a:t>Professional-Grade </a:t>
            </a:r>
            <a:r>
              <a:rPr lang="fr-CH" dirty="0" err="1"/>
              <a:t>Failsafes</a:t>
            </a:r>
            <a:endParaRPr lang="fr-CH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08515D-C53E-59BA-0C10-AF514E2BFA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478" y="2272247"/>
            <a:ext cx="94659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Moving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sessions to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X.509 Digital Certificates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flashed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onto the Arduino.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Guardrails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Heartbeat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Monitor: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SAFE_STATE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(Off) if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loses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connection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server for 30s.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Sanity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Checks: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disconnected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short circuits to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thermal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runaway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Watchdog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(WDT):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reboots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Arduino if the code 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hangs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13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4AFE53-4E48-BAD7-EAA4-645008FD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The Communication Architecture</a:t>
            </a:r>
            <a:br>
              <a:rPr lang="fr-CH" dirty="0"/>
            </a:br>
            <a:r>
              <a:rPr lang="en-US" dirty="0"/>
              <a:t>Decoupled Messaging via AWS IoT Core</a:t>
            </a:r>
            <a:endParaRPr lang="fr-CH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59E158-62ED-44DB-BCEA-B2DD78AA3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661" y="2322588"/>
            <a:ext cx="117341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Protocol: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MQTT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(Message Queuing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Telemetry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Transport) replaces standard HTTP for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/data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"Post Office" Model: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</a:t>
            </a: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Publishes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JSON to a topic (e.g.,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heater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/temp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</a:t>
            </a: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Subscribes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topic to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Shadow: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"Digital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in the cloud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the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heater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state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device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offline.</a:t>
            </a:r>
          </a:p>
        </p:txBody>
      </p:sp>
    </p:spTree>
    <p:extLst>
      <p:ext uri="{BB962C8B-B14F-4D97-AF65-F5344CB8AC3E}">
        <p14:creationId xmlns:p14="http://schemas.microsoft.com/office/powerpoint/2010/main" val="1089435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D1B46-CF7E-8B6E-4205-E17E7C27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Real-Time Data Flow</a:t>
            </a:r>
            <a:br>
              <a:rPr lang="fr-CH" dirty="0"/>
            </a:br>
            <a:r>
              <a:rPr lang="en-US" dirty="0"/>
              <a:t>Bridging the Cloud to the User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35F93-6C38-2070-FFD6-6CE19EA92C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1905433"/>
            <a:ext cx="972067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Pipeline: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to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IoT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(MQTT).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pulls data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Socket.io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WebSockets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"pushes"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Node.js 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browser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instantly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updates in real-time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refresh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page.</a:t>
            </a:r>
          </a:p>
        </p:txBody>
      </p:sp>
    </p:spTree>
    <p:extLst>
      <p:ext uri="{BB962C8B-B14F-4D97-AF65-F5344CB8AC3E}">
        <p14:creationId xmlns:p14="http://schemas.microsoft.com/office/powerpoint/2010/main" val="370415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0B643C-CF93-21A5-F1E9-AAE86A3E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2026 </a:t>
            </a:r>
            <a:r>
              <a:rPr lang="fr-CH" dirty="0" err="1"/>
              <a:t>Hosting</a:t>
            </a:r>
            <a:r>
              <a:rPr lang="fr-CH" dirty="0"/>
              <a:t> </a:t>
            </a:r>
            <a:r>
              <a:rPr lang="fr-CH" dirty="0" err="1"/>
              <a:t>Strategy</a:t>
            </a:r>
            <a:br>
              <a:rPr lang="fr-CH" dirty="0"/>
            </a:br>
            <a:r>
              <a:rPr lang="fr-CH" dirty="0" err="1"/>
              <a:t>Deployment</a:t>
            </a:r>
            <a:r>
              <a:rPr lang="fr-CH" dirty="0"/>
              <a:t> &amp; </a:t>
            </a:r>
            <a:r>
              <a:rPr lang="fr-CH" dirty="0" err="1"/>
              <a:t>Sustainability</a:t>
            </a:r>
            <a:endParaRPr lang="fr-C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E617F9-24BC-B785-F1D4-46B9088DF3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061" y="2139508"/>
            <a:ext cx="121142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Free Tier: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12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free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connectivity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(pennies per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thereafter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Hosting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Options: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ECS Express: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Professional,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stays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AWS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ecosystem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Render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Railway: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Easiest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setup for the Node.js server and HTML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Proof: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Decoupled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design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more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mobile apps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rewriting the Arduino code.</a:t>
            </a:r>
          </a:p>
        </p:txBody>
      </p:sp>
    </p:spTree>
    <p:extLst>
      <p:ext uri="{BB962C8B-B14F-4D97-AF65-F5344CB8AC3E}">
        <p14:creationId xmlns:p14="http://schemas.microsoft.com/office/powerpoint/2010/main" val="404652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303FCE-7970-EA1A-8BED-7B6616B1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Secure Global Access &amp; Identity Management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09C155-42F8-3249-2534-CA195DD8D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1. Identity &amp; Authentication (The Gatekeeper)</a:t>
            </a:r>
          </a:p>
          <a:p>
            <a:pPr lvl="1"/>
            <a:r>
              <a:rPr lang="en-US" b="1" dirty="0"/>
              <a:t>Amazon Cognito User Pools:</a:t>
            </a:r>
            <a:r>
              <a:rPr lang="en-US" dirty="0"/>
              <a:t> A secure directory for your "Username/Password" login. Supports MFA (SMS/Email) and password resets.</a:t>
            </a:r>
          </a:p>
          <a:p>
            <a:pPr lvl="1"/>
            <a:r>
              <a:rPr lang="en-US" b="1" dirty="0"/>
              <a:t>Identity Pools:</a:t>
            </a:r>
            <a:r>
              <a:rPr lang="en-US" dirty="0"/>
              <a:t> Exchanges a successful login for a temporary </a:t>
            </a:r>
            <a:r>
              <a:rPr lang="en-US" b="1" dirty="0"/>
              <a:t>IAM Token</a:t>
            </a:r>
            <a:r>
              <a:rPr lang="en-US" dirty="0"/>
              <a:t>—your "VIP Pass" to talk to AWS services.</a:t>
            </a:r>
          </a:p>
          <a:p>
            <a:r>
              <a:rPr lang="en-US" b="1" dirty="0"/>
              <a:t>2. Fine-Grained Permissions (The Rulebook)</a:t>
            </a:r>
          </a:p>
          <a:p>
            <a:pPr lvl="1"/>
            <a:r>
              <a:rPr lang="en-US" dirty="0"/>
              <a:t>We use </a:t>
            </a:r>
            <a:r>
              <a:rPr lang="en-US" b="1" dirty="0"/>
              <a:t>IAM Roles</a:t>
            </a:r>
            <a:r>
              <a:rPr lang="en-US" dirty="0"/>
              <a:t> to define exactly what a user can do once they are inside:</a:t>
            </a:r>
          </a:p>
          <a:p>
            <a:pPr lvl="1"/>
            <a:r>
              <a:rPr lang="en-US" b="1" dirty="0"/>
              <a:t>Viewer Role (</a:t>
            </a:r>
            <a:r>
              <a:rPr lang="en-US" b="1" dirty="0" err="1"/>
              <a:t>BoilerReadOnly</a:t>
            </a:r>
            <a:r>
              <a:rPr lang="en-US" b="1" dirty="0"/>
              <a:t>):</a:t>
            </a:r>
            <a:r>
              <a:rPr lang="en-US" dirty="0"/>
              <a:t> Grants </a:t>
            </a:r>
            <a:r>
              <a:rPr lang="en-US" dirty="0" err="1"/>
              <a:t>iot:Subscribe</a:t>
            </a:r>
            <a:r>
              <a:rPr lang="en-US" dirty="0"/>
              <a:t> only. Users see live data but cannot trigger actions.</a:t>
            </a:r>
          </a:p>
          <a:p>
            <a:pPr lvl="1"/>
            <a:r>
              <a:rPr lang="en-US" b="1" dirty="0"/>
              <a:t>Admin Role (BoilerManager):</a:t>
            </a:r>
            <a:r>
              <a:rPr lang="en-US" dirty="0"/>
              <a:t> Grants </a:t>
            </a:r>
            <a:r>
              <a:rPr lang="en-US" dirty="0" err="1"/>
              <a:t>iot:Publish</a:t>
            </a:r>
            <a:r>
              <a:rPr lang="en-US" dirty="0"/>
              <a:t> and </a:t>
            </a:r>
            <a:r>
              <a:rPr lang="en-US" dirty="0" err="1"/>
              <a:t>iot:UpdateThingShadow</a:t>
            </a:r>
            <a:r>
              <a:rPr lang="en-US" dirty="0"/>
              <a:t>. Only you can change temperatures or toggle power.</a:t>
            </a:r>
          </a:p>
          <a:p>
            <a:r>
              <a:rPr lang="en-US" b="1" dirty="0"/>
              <a:t>3. The "Zero-Trust" Security Model</a:t>
            </a:r>
          </a:p>
          <a:p>
            <a:pPr lvl="1"/>
            <a:r>
              <a:rPr lang="en-US" b="1" dirty="0"/>
              <a:t>No Token, No Data:</a:t>
            </a:r>
            <a:r>
              <a:rPr lang="en-US" dirty="0"/>
              <a:t> Without a Cognito token, the dashboard remains blank; the AWS Broker rejects the connection.</a:t>
            </a:r>
          </a:p>
          <a:p>
            <a:pPr lvl="1"/>
            <a:r>
              <a:rPr lang="en-US" b="1" dirty="0"/>
              <a:t>Encrypted Transit:</a:t>
            </a:r>
            <a:r>
              <a:rPr lang="en-US" dirty="0"/>
              <a:t> All data travels via </a:t>
            </a:r>
            <a:r>
              <a:rPr lang="en-US" b="1" dirty="0"/>
              <a:t>TLS 1.3 encryption</a:t>
            </a:r>
            <a:r>
              <a:rPr lang="en-US" dirty="0"/>
              <a:t>, preventing "sniffing" on public Wi-Fi.</a:t>
            </a:r>
          </a:p>
          <a:p>
            <a:pPr lvl="1"/>
            <a:r>
              <a:rPr lang="en-US" b="1" dirty="0"/>
              <a:t>Server-Side Lockdown:</a:t>
            </a:r>
            <a:r>
              <a:rPr lang="en-US" dirty="0"/>
              <a:t> Commands are verified by AWS before they ever reach the Arduino.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05792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81A5A2-6438-167B-2B69-B16D35D5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Multi component </a:t>
            </a:r>
            <a:r>
              <a:rPr lang="fr-CH" dirty="0" err="1"/>
              <a:t>approach</a:t>
            </a:r>
            <a:endParaRPr lang="fr-CH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BFA93A6-DF58-D5DE-D9BF-ACA9E0D3225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4" y="1825625"/>
          <a:ext cx="9623151" cy="4351338"/>
        </p:xfrm>
        <a:graphic>
          <a:graphicData uri="http://schemas.openxmlformats.org/drawingml/2006/table">
            <a:tbl>
              <a:tblPr/>
              <a:tblGrid>
                <a:gridCol w="3207717">
                  <a:extLst>
                    <a:ext uri="{9D8B030D-6E8A-4147-A177-3AD203B41FA5}">
                      <a16:colId xmlns:a16="http://schemas.microsoft.com/office/drawing/2014/main" val="3754224778"/>
                    </a:ext>
                  </a:extLst>
                </a:gridCol>
                <a:gridCol w="3207717">
                  <a:extLst>
                    <a:ext uri="{9D8B030D-6E8A-4147-A177-3AD203B41FA5}">
                      <a16:colId xmlns:a16="http://schemas.microsoft.com/office/drawing/2014/main" val="1851857156"/>
                    </a:ext>
                  </a:extLst>
                </a:gridCol>
                <a:gridCol w="3207717">
                  <a:extLst>
                    <a:ext uri="{9D8B030D-6E8A-4147-A177-3AD203B41FA5}">
                      <a16:colId xmlns:a16="http://schemas.microsoft.com/office/drawing/2014/main" val="3164248369"/>
                    </a:ext>
                  </a:extLst>
                </a:gridCol>
              </a:tblGrid>
              <a:tr h="4741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Production (The Real Control)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Development (The Dummy)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484108"/>
                  </a:ext>
                </a:extLst>
              </a:tr>
              <a:tr h="4741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Hardware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Arduino R4 WiFi</a:t>
                      </a:r>
                      <a:r>
                        <a:rPr lang="pt-BR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+ </a:t>
                      </a:r>
                      <a:r>
                        <a:rPr lang="pt-BR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ESP32-S3 (Kit C)</a:t>
                      </a:r>
                      <a:endParaRPr lang="pt-B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ESP32-S3 (Standard)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75665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Connectivity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External Antenna:</a:t>
                      </a:r>
                      <a:r>
                        <a:rPr lang="fr-CH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High-gain signal for basement/boiler environments.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Onboard Antenna: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Clean, compact setup for desk use.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164920"/>
                  </a:ext>
                </a:extLst>
              </a:tr>
              <a:tr h="9762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Installation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GPIO Expansion Board: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Secure screw terminals for high-reliability sensor/relay wiring.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USB Direct: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No physical I/O needed; purely logic-based simulation.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108396"/>
                  </a:ext>
                </a:extLst>
              </a:tr>
              <a:tr h="9762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 Role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Active Control: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Real-time sensor sanity checks, failsafes, and WDT.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Home Simulation: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24h mathematical model to test AWS dashboard logic.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75069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Identity</a:t>
                      </a:r>
                      <a:endParaRPr lang="fr-CH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Certs: </a:t>
                      </a:r>
                      <a:r>
                        <a:rPr lang="en-US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Heater_Main_01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Heater_Main_02</a:t>
                      </a: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Unique Cert: </a:t>
                      </a:r>
                      <a:r>
                        <a:rPr lang="fr-CH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Heater_Dummy_01</a:t>
                      </a:r>
                      <a:r>
                        <a:rPr lang="fr-CH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83680" marR="83680" marT="111573" marB="111573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60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65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DBCB64-A8B3-4E0D-7F5C-8CBC5A1B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Strategic Objectives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A96C2F-327C-1230-267C-7C19B072B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Isolation:</a:t>
            </a:r>
            <a:r>
              <a:rPr lang="en-US" dirty="0"/>
              <a:t> Test experimental code on the </a:t>
            </a:r>
            <a:r>
              <a:rPr lang="en-US" b="1" dirty="0"/>
              <a:t>Dummy</a:t>
            </a:r>
            <a:r>
              <a:rPr lang="en-US" dirty="0"/>
              <a:t> board to avoid accidental boiler shutdowns.</a:t>
            </a:r>
          </a:p>
          <a:p>
            <a:r>
              <a:rPr lang="en-US" b="1" dirty="0"/>
              <a:t>Scalability:</a:t>
            </a:r>
            <a:r>
              <a:rPr lang="en-US" dirty="0"/>
              <a:t> Validate the Node.js server's ability to handle </a:t>
            </a:r>
            <a:r>
              <a:rPr lang="en-US" b="1" dirty="0"/>
              <a:t>concurrency</a:t>
            </a:r>
            <a:r>
              <a:rPr lang="en-US" dirty="0"/>
              <a:t> (multiple data streams at once).</a:t>
            </a:r>
          </a:p>
          <a:p>
            <a:r>
              <a:rPr lang="en-US" b="1" dirty="0"/>
              <a:t>Reliability:</a:t>
            </a:r>
            <a:r>
              <a:rPr lang="en-US" dirty="0"/>
              <a:t> Use the </a:t>
            </a:r>
            <a:r>
              <a:rPr lang="en-US" b="1" dirty="0"/>
              <a:t>Expansion Board</a:t>
            </a:r>
            <a:r>
              <a:rPr lang="en-US" dirty="0"/>
              <a:t> on the real boiler to prevent mechanical failures (loose wires).</a:t>
            </a:r>
          </a:p>
          <a:p>
            <a:r>
              <a:rPr lang="en-US" b="1" dirty="0"/>
              <a:t>Efficiency:</a:t>
            </a:r>
            <a:r>
              <a:rPr lang="en-US" dirty="0"/>
              <a:t> Maintain a </a:t>
            </a:r>
            <a:r>
              <a:rPr lang="en-US" b="1" dirty="0"/>
              <a:t>14h ON / 10h OFF</a:t>
            </a:r>
            <a:r>
              <a:rPr lang="en-US" dirty="0"/>
              <a:t> cycle across the fleet to maximize AWS Free Tier usage.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281673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92BEEA-834E-A88A-AA58-93C151144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ESP32 Configuration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5F40C59-BC53-0BE7-F3DD-B4826BA936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253400"/>
              </p:ext>
            </p:extLst>
          </p:nvPr>
        </p:nvGraphicFramePr>
        <p:xfrm>
          <a:off x="616227" y="1793156"/>
          <a:ext cx="11420060" cy="4354484"/>
        </p:xfrm>
        <a:graphic>
          <a:graphicData uri="http://schemas.openxmlformats.org/drawingml/2006/table">
            <a:tbl>
              <a:tblPr/>
              <a:tblGrid>
                <a:gridCol w="2284012">
                  <a:extLst>
                    <a:ext uri="{9D8B030D-6E8A-4147-A177-3AD203B41FA5}">
                      <a16:colId xmlns:a16="http://schemas.microsoft.com/office/drawing/2014/main" val="952771121"/>
                    </a:ext>
                  </a:extLst>
                </a:gridCol>
                <a:gridCol w="2284012">
                  <a:extLst>
                    <a:ext uri="{9D8B030D-6E8A-4147-A177-3AD203B41FA5}">
                      <a16:colId xmlns:a16="http://schemas.microsoft.com/office/drawing/2014/main" val="3791613730"/>
                    </a:ext>
                  </a:extLst>
                </a:gridCol>
                <a:gridCol w="2284012">
                  <a:extLst>
                    <a:ext uri="{9D8B030D-6E8A-4147-A177-3AD203B41FA5}">
                      <a16:colId xmlns:a16="http://schemas.microsoft.com/office/drawing/2014/main" val="1194957168"/>
                    </a:ext>
                  </a:extLst>
                </a:gridCol>
                <a:gridCol w="2284012">
                  <a:extLst>
                    <a:ext uri="{9D8B030D-6E8A-4147-A177-3AD203B41FA5}">
                      <a16:colId xmlns:a16="http://schemas.microsoft.com/office/drawing/2014/main" val="789812835"/>
                    </a:ext>
                  </a:extLst>
                </a:gridCol>
                <a:gridCol w="2284012">
                  <a:extLst>
                    <a:ext uri="{9D8B030D-6E8A-4147-A177-3AD203B41FA5}">
                      <a16:colId xmlns:a16="http://schemas.microsoft.com/office/drawing/2014/main" val="2309246911"/>
                    </a:ext>
                  </a:extLst>
                </a:gridCol>
              </a:tblGrid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ESP32-S3 (Your Current)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ESP32-C6 (The Smart Home)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ESP32-P4 (The Beast)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 (Original)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667666"/>
                  </a:ext>
                </a:extLst>
              </a:tr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Architecture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Xtensa LX7 (Dual-Core)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RISC-V</a:t>
                      </a: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(Single + LP Core)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RISC-V</a:t>
                      </a: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(Dual-Core)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Xtensa LX6 (Dual-Core)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81329"/>
                  </a:ext>
                </a:extLst>
              </a:tr>
              <a:tr h="3424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Clock Speed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240 MHz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160 MHz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400 MHz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240 MHz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397935"/>
                  </a:ext>
                </a:extLst>
              </a:tr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Wi-Fi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Wi-Fi 4 (2.4GHz)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Wi-Fi 6</a:t>
                      </a: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(2.4GHz)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</a:t>
                      </a: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(Needs C6/H2)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Wi-Fi 4 (2.4GHz)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572381"/>
                  </a:ext>
                </a:extLst>
              </a:tr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Bluetooth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BLE 5.0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BLE 5.3 + Zigbee/Thread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BLE 5.3 (via companion)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BT Classic + BLE 4.2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04298"/>
                  </a:ext>
                </a:extLst>
              </a:tr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AI Support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Vector Instructions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Basic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Advanced Vector/DSP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658990"/>
                  </a:ext>
                </a:extLst>
              </a:tr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USB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Native USB-OTG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Native USB-Serial/JTAG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Native USB 2.0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 (needs bridge)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225381"/>
                  </a:ext>
                </a:extLst>
              </a:tr>
              <a:tr h="3424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Deep Sleep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~7 µA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~5 µA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N/A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~100 µA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7215944"/>
                  </a:ext>
                </a:extLst>
              </a:tr>
              <a:tr h="5237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Use Case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Heater with Display/AI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Battery sensors/Matter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HMI / 1080p Video</a:t>
                      </a:r>
                      <a:endParaRPr lang="fr-CH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sz="12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Legacy</a:t>
                      </a:r>
                      <a:r>
                        <a:rPr lang="fr-CH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/ Cheap IoT</a:t>
                      </a:r>
                    </a:p>
                  </a:txBody>
                  <a:tcPr marL="60435" marR="60435" marT="80580" marB="8058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84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040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D9612-59E4-6DEA-BD5E-A09A9EA5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H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A8D58A7-F62A-2B12-EAA6-001001CE7F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57254"/>
          <a:ext cx="10515600" cy="3688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8425082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510944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37086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22979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Configuration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Internal SRAM (RAM)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Common Flash (Storage)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PSRAM (External RAM)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396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ESP32-S3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512 KB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 MB - 16 MB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 MB - 8 MB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(Often integrated)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160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ESP32-C6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512 KB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MB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(Usually limited to internal)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121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ESP32-P4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768 KB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External Only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(up to 16MB)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 to 32 MB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(High speed)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909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ESP32 (Original)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520 KB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CH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 MB</a:t>
                      </a:r>
                      <a:endParaRPr lang="fr-CH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None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(Rarely 4MB in special modules)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19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5075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B81E08-8569-6512-197C-9EE29388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The AWS "Thing" Creation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903BA9-60C5-372B-84A4-7DA6B957A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the AWS Console, you need to register your physical board as a logical "Thing."</a:t>
            </a:r>
          </a:p>
          <a:p>
            <a:r>
              <a:rPr lang="en-US" b="1" dirty="0"/>
              <a:t>Create a Thing:</a:t>
            </a:r>
            <a:r>
              <a:rPr lang="en-US" dirty="0"/>
              <a:t> Name it Heater_Main_01.</a:t>
            </a:r>
          </a:p>
          <a:p>
            <a:r>
              <a:rPr lang="en-US" b="1" dirty="0"/>
              <a:t>Generate Certificates:</a:t>
            </a:r>
            <a:r>
              <a:rPr lang="en-US" dirty="0"/>
              <a:t> AWS will give you a chance to download a </a:t>
            </a:r>
            <a:r>
              <a:rPr lang="en-US" b="1" dirty="0"/>
              <a:t>Device Certificate</a:t>
            </a:r>
            <a:r>
              <a:rPr lang="en-US" dirty="0"/>
              <a:t>, a </a:t>
            </a:r>
            <a:r>
              <a:rPr lang="en-US" b="1" dirty="0"/>
              <a:t>Private Key</a:t>
            </a:r>
            <a:r>
              <a:rPr lang="en-US" dirty="0"/>
              <a:t>, and a </a:t>
            </a:r>
            <a:r>
              <a:rPr lang="en-US" b="1" dirty="0"/>
              <a:t>Root CA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CRITICAL:</a:t>
            </a:r>
            <a:r>
              <a:rPr lang="en-US" dirty="0"/>
              <a:t> Download these immediately. AWS will </a:t>
            </a:r>
            <a:r>
              <a:rPr lang="en-US" i="1" dirty="0"/>
              <a:t>never</a:t>
            </a:r>
            <a:r>
              <a:rPr lang="en-US" dirty="0"/>
              <a:t> show you the Private Key again. If you lose it, you have to start over.</a:t>
            </a:r>
          </a:p>
          <a:p>
            <a:r>
              <a:rPr lang="en-US" b="1" dirty="0"/>
              <a:t>Attach a Policy:</a:t>
            </a:r>
            <a:r>
              <a:rPr lang="en-US" dirty="0"/>
              <a:t> You must create a "Policy" (the rules) that allows your board to Connect, Publish, and Subscribe. Without this, AWS will reject the connection even with the right keys.</a:t>
            </a:r>
          </a:p>
        </p:txBody>
      </p:sp>
    </p:spTree>
    <p:extLst>
      <p:ext uri="{BB962C8B-B14F-4D97-AF65-F5344CB8AC3E}">
        <p14:creationId xmlns:p14="http://schemas.microsoft.com/office/powerpoint/2010/main" val="491821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5BD140-75AF-FF4C-8AA6-A637CA166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Preparing the Arduino R4 Firmware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D907D8-C19E-7581-074A-DD4FAFF39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Arduino R4 </a:t>
            </a:r>
            <a:r>
              <a:rPr lang="en-US" dirty="0" err="1"/>
              <a:t>WiFi</a:t>
            </a:r>
            <a:r>
              <a:rPr lang="en-US" dirty="0"/>
              <a:t> uses a "bridge" (the internal ESP32-S3) for its Wi-Fi. It needs to know how to handle the encryption.</a:t>
            </a:r>
          </a:p>
          <a:p>
            <a:r>
              <a:rPr lang="en-US" b="1" dirty="0"/>
              <a:t>Firmware Check:</a:t>
            </a:r>
            <a:r>
              <a:rPr lang="en-US" dirty="0"/>
              <a:t> Ensure your Arduino R4 </a:t>
            </a:r>
            <a:r>
              <a:rPr lang="en-US" dirty="0" err="1"/>
              <a:t>WiFi</a:t>
            </a:r>
            <a:r>
              <a:rPr lang="en-US" dirty="0"/>
              <a:t> is updated to the latest firmware (at least v0.4.0+). Older versions had bugs with SSL certificates.</a:t>
            </a:r>
          </a:p>
          <a:p>
            <a:r>
              <a:rPr lang="en-US" b="1" dirty="0"/>
              <a:t>SSL Root Upload:</a:t>
            </a:r>
            <a:r>
              <a:rPr lang="en-US" dirty="0"/>
              <a:t> You may need to use the </a:t>
            </a:r>
            <a:r>
              <a:rPr lang="en-US" b="1" dirty="0"/>
              <a:t>Arduino WiFi101 / </a:t>
            </a:r>
            <a:r>
              <a:rPr lang="en-US" b="1" dirty="0" err="1"/>
              <a:t>WiFiNINA</a:t>
            </a:r>
            <a:r>
              <a:rPr lang="en-US" b="1" dirty="0"/>
              <a:t> / WiFiS3 firmware uploader</a:t>
            </a:r>
            <a:r>
              <a:rPr lang="en-US" dirty="0"/>
              <a:t> tool to "burn" the Amazon Root CA certificate into the board's Wi-Fi module. This allows the board to trust that it’s actually talking to Amazon and not a hacker.</a:t>
            </a:r>
          </a:p>
        </p:txBody>
      </p:sp>
    </p:spTree>
    <p:extLst>
      <p:ext uri="{BB962C8B-B14F-4D97-AF65-F5344CB8AC3E}">
        <p14:creationId xmlns:p14="http://schemas.microsoft.com/office/powerpoint/2010/main" val="1977281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85BD31-42C9-535E-86FF-EAECE244A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The "Secrets" File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50B999-8AFE-2A85-9293-B0F60C521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code (</a:t>
            </a:r>
            <a:r>
              <a:rPr lang="en-US" dirty="0" err="1"/>
              <a:t>PlatformIO</a:t>
            </a:r>
            <a:r>
              <a:rPr lang="en-US" dirty="0"/>
              <a:t> or Arduino IDE), we will create a </a:t>
            </a:r>
            <a:r>
              <a:rPr lang="en-US" dirty="0" err="1"/>
              <a:t>secrets.h</a:t>
            </a:r>
            <a:r>
              <a:rPr lang="en-US" dirty="0"/>
              <a:t> file. You will copy the text from the files you downloaded in Step 1 into this file.</a:t>
            </a:r>
          </a:p>
          <a:p>
            <a:r>
              <a:rPr lang="en-US" dirty="0"/>
              <a:t>It will look like a long block of text starting with -----BEGIN CERTIFICATE-----.</a:t>
            </a:r>
          </a:p>
          <a:p>
            <a:r>
              <a:rPr lang="en-US" b="1" dirty="0"/>
              <a:t>Pro Tip:</a:t>
            </a:r>
            <a:r>
              <a:rPr lang="en-US" dirty="0"/>
              <a:t> For the Arduino R4, we often use the </a:t>
            </a:r>
            <a:r>
              <a:rPr lang="en-US" b="1" dirty="0" err="1"/>
              <a:t>Arduino_ConnectionHandler</a:t>
            </a:r>
            <a:r>
              <a:rPr lang="en-US" dirty="0"/>
              <a:t> or </a:t>
            </a:r>
            <a:r>
              <a:rPr lang="en-US" b="1" dirty="0"/>
              <a:t>WiFiS3</a:t>
            </a:r>
            <a:r>
              <a:rPr lang="en-US" dirty="0"/>
              <a:t> libraries. They expect these keys in a specific format.</a:t>
            </a:r>
          </a:p>
        </p:txBody>
      </p:sp>
    </p:spTree>
    <p:extLst>
      <p:ext uri="{BB962C8B-B14F-4D97-AF65-F5344CB8AC3E}">
        <p14:creationId xmlns:p14="http://schemas.microsoft.com/office/powerpoint/2010/main" val="3169669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FCBA31-3925-8829-5A8C-A9A1566A8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The Heartbeat Logic (Code)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7ADE62-8698-3E10-7C3F-0075EC84A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write a simple "Ping" sketch.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Connect to Wi-Fi.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Connect to AWS MQTT Broker</a:t>
            </a:r>
            <a:r>
              <a:rPr lang="en-US" dirty="0"/>
              <a:t> using the certificates.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Publish a message</a:t>
            </a:r>
            <a:r>
              <a:rPr lang="en-US" dirty="0"/>
              <a:t> to a topic like heaters/01/status with a simple JSON: {"status": "online"}.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Listen</a:t>
            </a:r>
            <a:r>
              <a:rPr lang="en-US" dirty="0"/>
              <a:t> for a response from your Node.js server.</a:t>
            </a:r>
          </a:p>
        </p:txBody>
      </p:sp>
    </p:spTree>
    <p:extLst>
      <p:ext uri="{BB962C8B-B14F-4D97-AF65-F5344CB8AC3E}">
        <p14:creationId xmlns:p14="http://schemas.microsoft.com/office/powerpoint/2010/main" val="30939123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1506</Words>
  <Application>Microsoft Office PowerPoint</Application>
  <PresentationFormat>Grand écran</PresentationFormat>
  <Paragraphs>160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Arial Unicode MS</vt:lpstr>
      <vt:lpstr>Calibri</vt:lpstr>
      <vt:lpstr>Calibri Light</vt:lpstr>
      <vt:lpstr>Google Sans Text</vt:lpstr>
      <vt:lpstr>Thème Office</vt:lpstr>
      <vt:lpstr>AWS architecture</vt:lpstr>
      <vt:lpstr>The Full Data Path</vt:lpstr>
      <vt:lpstr>System Architecture </vt:lpstr>
      <vt:lpstr>Project Overview &amp; Vision The Smart Heater: Moving to Global Scale</vt:lpstr>
      <vt:lpstr>Security &amp; Hardware Integrity :  Professional-Grade Failsafes</vt:lpstr>
      <vt:lpstr>The Communication Architecture Decoupled Messaging via AWS IoT Core</vt:lpstr>
      <vt:lpstr>Real-Time Data Flow Bridging the Cloud to the User</vt:lpstr>
      <vt:lpstr>2026 Hosting Strategy Deployment &amp; Sustainability</vt:lpstr>
      <vt:lpstr>Secure Global Access &amp; Identity Management</vt:lpstr>
      <vt:lpstr>Multi component approach</vt:lpstr>
      <vt:lpstr>Strategic Objectives</vt:lpstr>
      <vt:lpstr>ESP32 Configuration </vt:lpstr>
      <vt:lpstr>Présentation PowerPoint</vt:lpstr>
      <vt:lpstr>Step 1: The AWS "Thing" Creation</vt:lpstr>
      <vt:lpstr>Step 2: Preparing the Arduino R4 Firmware</vt:lpstr>
      <vt:lpstr>Step 3: The "Secrets" File</vt:lpstr>
      <vt:lpstr>Step 4: The Heartbeat Logic (Code)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Saab</dc:creator>
  <cp:lastModifiedBy>Ahmad Saab</cp:lastModifiedBy>
  <cp:revision>9</cp:revision>
  <dcterms:created xsi:type="dcterms:W3CDTF">2026-04-20T08:21:25Z</dcterms:created>
  <dcterms:modified xsi:type="dcterms:W3CDTF">2026-04-20T11:05:53Z</dcterms:modified>
</cp:coreProperties>
</file>