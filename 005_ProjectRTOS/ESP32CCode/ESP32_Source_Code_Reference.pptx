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09" d="100"/>
          <a:sy n="209" d="100"/>
        </p:scale>
        <p:origin x="33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1989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5" name="Shape 3"/>
          <p:cNvSpPr/>
          <p:nvPr/>
        </p:nvSpPr>
        <p:spPr>
          <a:xfrm>
            <a:off x="594360" y="1143000"/>
            <a:ext cx="1371600" cy="64008"/>
          </a:xfrm>
          <a:prstGeom prst="rect">
            <a:avLst/>
          </a:prstGeom>
          <a:solidFill>
            <a:srgbClr val="02C39A"/>
          </a:solidFill>
          <a:ln w="12700">
            <a:solidFill>
              <a:srgbClr val="02C39A"/>
            </a:solidFill>
            <a:prstDash val="solid"/>
          </a:ln>
        </p:spPr>
      </p:sp>
      <p:sp>
        <p:nvSpPr>
          <p:cNvPr id="6" name="Text 4"/>
          <p:cNvSpPr/>
          <p:nvPr/>
        </p:nvSpPr>
        <p:spPr>
          <a:xfrm>
            <a:off x="594360" y="1280160"/>
            <a:ext cx="8046720" cy="91440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ESP32-S3 Heater Project</a:t>
            </a:r>
            <a:endParaRPr lang="en-US" sz="4400" dirty="0"/>
          </a:p>
        </p:txBody>
      </p:sp>
      <p:sp>
        <p:nvSpPr>
          <p:cNvPr id="7" name="Text 5"/>
          <p:cNvSpPr/>
          <p:nvPr/>
        </p:nvSpPr>
        <p:spPr>
          <a:xfrm>
            <a:off x="594360" y="2286000"/>
            <a:ext cx="8046720" cy="50292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Source Code Reference — Function by Function</a:t>
            </a:r>
            <a:endParaRPr lang="en-US" sz="2000" dirty="0"/>
          </a:p>
        </p:txBody>
      </p:sp>
      <p:sp>
        <p:nvSpPr>
          <p:cNvPr id="8" name="Shape 6"/>
          <p:cNvSpPr/>
          <p:nvPr/>
        </p:nvSpPr>
        <p:spPr>
          <a:xfrm>
            <a:off x="594360" y="3246120"/>
            <a:ext cx="1920240" cy="960120"/>
          </a:xfrm>
          <a:prstGeom prst="rect">
            <a:avLst/>
          </a:prstGeom>
          <a:solidFill>
            <a:srgbClr val="1A3A5C"/>
          </a:solidFill>
          <a:ln w="12700">
            <a:solidFill>
              <a:srgbClr val="1C7293"/>
            </a:solidFill>
            <a:prstDash val="solid"/>
          </a:ln>
        </p:spPr>
      </p:sp>
      <p:sp>
        <p:nvSpPr>
          <p:cNvPr id="9" name="Text 7"/>
          <p:cNvSpPr/>
          <p:nvPr/>
        </p:nvSpPr>
        <p:spPr>
          <a:xfrm>
            <a:off x="594360" y="3291840"/>
            <a:ext cx="1920240" cy="50292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9</a:t>
            </a:r>
            <a:endParaRPr lang="en-US" sz="3000" dirty="0"/>
          </a:p>
        </p:txBody>
      </p:sp>
      <p:sp>
        <p:nvSpPr>
          <p:cNvPr id="10" name="Text 8"/>
          <p:cNvSpPr/>
          <p:nvPr/>
        </p:nvSpPr>
        <p:spPr>
          <a:xfrm>
            <a:off x="594360" y="3794760"/>
            <a:ext cx="1920240" cy="274320"/>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Source Files</a:t>
            </a:r>
            <a:endParaRPr lang="en-US" sz="1100" dirty="0"/>
          </a:p>
        </p:txBody>
      </p:sp>
      <p:sp>
        <p:nvSpPr>
          <p:cNvPr id="11" name="Shape 9"/>
          <p:cNvSpPr/>
          <p:nvPr/>
        </p:nvSpPr>
        <p:spPr>
          <a:xfrm>
            <a:off x="2697480" y="3246120"/>
            <a:ext cx="1920240" cy="960120"/>
          </a:xfrm>
          <a:prstGeom prst="rect">
            <a:avLst/>
          </a:prstGeom>
          <a:solidFill>
            <a:srgbClr val="1A3A5C"/>
          </a:solidFill>
          <a:ln w="12700">
            <a:solidFill>
              <a:srgbClr val="1C7293"/>
            </a:solidFill>
            <a:prstDash val="solid"/>
          </a:ln>
        </p:spPr>
      </p:sp>
      <p:sp>
        <p:nvSpPr>
          <p:cNvPr id="12" name="Text 10"/>
          <p:cNvSpPr/>
          <p:nvPr/>
        </p:nvSpPr>
        <p:spPr>
          <a:xfrm>
            <a:off x="2697480" y="3291840"/>
            <a:ext cx="1920240" cy="50292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24</a:t>
            </a:r>
            <a:endParaRPr lang="en-US" sz="3000" dirty="0"/>
          </a:p>
        </p:txBody>
      </p:sp>
      <p:sp>
        <p:nvSpPr>
          <p:cNvPr id="13" name="Text 11"/>
          <p:cNvSpPr/>
          <p:nvPr/>
        </p:nvSpPr>
        <p:spPr>
          <a:xfrm>
            <a:off x="2697480" y="3794760"/>
            <a:ext cx="1920240" cy="274320"/>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Functions</a:t>
            </a:r>
            <a:endParaRPr lang="en-US" sz="1100" dirty="0"/>
          </a:p>
        </p:txBody>
      </p:sp>
      <p:sp>
        <p:nvSpPr>
          <p:cNvPr id="14" name="Shape 12"/>
          <p:cNvSpPr/>
          <p:nvPr/>
        </p:nvSpPr>
        <p:spPr>
          <a:xfrm>
            <a:off x="4800600" y="3246120"/>
            <a:ext cx="1920240" cy="960120"/>
          </a:xfrm>
          <a:prstGeom prst="rect">
            <a:avLst/>
          </a:prstGeom>
          <a:solidFill>
            <a:srgbClr val="1A3A5C"/>
          </a:solidFill>
          <a:ln w="12700">
            <a:solidFill>
              <a:srgbClr val="1C7293"/>
            </a:solidFill>
            <a:prstDash val="solid"/>
          </a:ln>
        </p:spPr>
      </p:sp>
      <p:sp>
        <p:nvSpPr>
          <p:cNvPr id="15" name="Text 13"/>
          <p:cNvSpPr/>
          <p:nvPr/>
        </p:nvSpPr>
        <p:spPr>
          <a:xfrm>
            <a:off x="4800600" y="3291840"/>
            <a:ext cx="1920240" cy="502920"/>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9</a:t>
            </a:r>
            <a:endParaRPr lang="en-US" sz="3000" dirty="0"/>
          </a:p>
        </p:txBody>
      </p:sp>
      <p:sp>
        <p:nvSpPr>
          <p:cNvPr id="16" name="Text 14"/>
          <p:cNvSpPr/>
          <p:nvPr/>
        </p:nvSpPr>
        <p:spPr>
          <a:xfrm>
            <a:off x="4800600" y="3794760"/>
            <a:ext cx="1920240" cy="274320"/>
          </a:xfrm>
          <a:prstGeom prst="rect">
            <a:avLst/>
          </a:prstGeom>
          <a:noFill/>
          <a:ln/>
        </p:spPr>
        <p:txBody>
          <a:bodyPr wrap="square" lIns="0" tIns="0" rIns="0" bIns="0" rtlCol="0" anchor="ctr"/>
          <a:lstStyle/>
          <a:p>
            <a:pPr marL="0" indent="0" algn="ctr">
              <a:buNone/>
            </a:pPr>
            <a:r>
              <a:rPr lang="en-US" sz="1100" dirty="0">
                <a:solidFill>
                  <a:srgbClr val="CADCFC"/>
                </a:solidFill>
                <a:latin typeface="Calibri" pitchFamily="34" charset="0"/>
                <a:ea typeface="Calibri" pitchFamily="34" charset="-122"/>
                <a:cs typeface="Calibri" pitchFamily="34" charset="-120"/>
              </a:rPr>
              <a:t>FreeRTOS Tasks</a:t>
            </a:r>
            <a:endParaRPr lang="en-US" sz="1100" dirty="0"/>
          </a:p>
        </p:txBody>
      </p:sp>
      <p:sp>
        <p:nvSpPr>
          <p:cNvPr id="17" name="Text 15"/>
          <p:cNvSpPr/>
          <p:nvPr/>
        </p:nvSpPr>
        <p:spPr>
          <a:xfrm>
            <a:off x="594360" y="4617720"/>
            <a:ext cx="804672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PlatformIO  ·  FreeRTOS  ·  MQTT / TLS  ·  HiveMQ Cloud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065A82"/>
          </a:solidFill>
          <a:ln w="12700">
            <a:solidFill>
              <a:srgbClr val="065A82"/>
            </a:solidFill>
            <a:prstDash val="solid"/>
          </a:ln>
        </p:spPr>
      </p:sp>
      <p:sp>
        <p:nvSpPr>
          <p:cNvPr id="3" name="Shape 1"/>
          <p:cNvSpPr/>
          <p:nvPr/>
        </p:nvSpPr>
        <p:spPr>
          <a:xfrm>
            <a:off x="502920" y="621792"/>
            <a:ext cx="3657600" cy="3657600"/>
          </a:xfrm>
          <a:prstGeom prst="ellipse">
            <a:avLst/>
          </a:prstGeom>
          <a:solidFill>
            <a:srgbClr val="065A82">
              <a:alpha val="12000"/>
            </a:srgbClr>
          </a:solidFill>
          <a:ln w="12700">
            <a:solidFill>
              <a:srgbClr val="065A82"/>
            </a:solidFill>
            <a:prstDash val="solid"/>
          </a:ln>
        </p:spPr>
      </p:sp>
      <p:sp>
        <p:nvSpPr>
          <p:cNvPr id="4" name="Text 2"/>
          <p:cNvSpPr/>
          <p:nvPr/>
        </p:nvSpPr>
        <p:spPr>
          <a:xfrm>
            <a:off x="777240" y="1417320"/>
            <a:ext cx="5486400" cy="347472"/>
          </a:xfrm>
          <a:prstGeom prst="rect">
            <a:avLst/>
          </a:prstGeom>
          <a:noFill/>
          <a:ln/>
        </p:spPr>
        <p:txBody>
          <a:bodyPr wrap="square" lIns="0" tIns="0" rIns="0" bIns="0" rtlCol="0" anchor="ctr"/>
          <a:lstStyle/>
          <a:p>
            <a:pPr marL="0" indent="0">
              <a:buNone/>
            </a:pPr>
            <a:r>
              <a:rPr lang="en-US" sz="1100" b="1" kern="0" spc="400" dirty="0">
                <a:solidFill>
                  <a:srgbClr val="065A82"/>
                </a:solidFill>
                <a:latin typeface="Calibri" pitchFamily="34" charset="0"/>
                <a:ea typeface="Calibri" pitchFamily="34" charset="-122"/>
                <a:cs typeface="Calibri" pitchFamily="34" charset="-120"/>
              </a:rPr>
              <a:t>SOURCE FILE</a:t>
            </a:r>
            <a:endParaRPr lang="en-US" sz="1100" dirty="0"/>
          </a:p>
        </p:txBody>
      </p:sp>
      <p:sp>
        <p:nvSpPr>
          <p:cNvPr id="5" name="Text 3"/>
          <p:cNvSpPr/>
          <p:nvPr/>
        </p:nvSpPr>
        <p:spPr>
          <a:xfrm>
            <a:off x="777240" y="1810512"/>
            <a:ext cx="8046720" cy="868680"/>
          </a:xfrm>
          <a:prstGeom prst="rect">
            <a:avLst/>
          </a:prstGeom>
          <a:noFill/>
          <a:ln/>
        </p:spPr>
        <p:txBody>
          <a:bodyPr wrap="square" lIns="0" tIns="0" rIns="0" bIns="0" rtlCol="0" anchor="ctr"/>
          <a:lstStyle/>
          <a:p>
            <a:pPr marL="0" indent="0">
              <a:buNone/>
            </a:pPr>
            <a:r>
              <a:rPr lang="en-US" sz="4000" b="1" dirty="0">
                <a:solidFill>
                  <a:srgbClr val="FFFFFF"/>
                </a:solidFill>
                <a:latin typeface="Consolas" pitchFamily="34" charset="0"/>
                <a:ea typeface="Consolas" pitchFamily="34" charset="-122"/>
                <a:cs typeface="Consolas" pitchFamily="34" charset="-120"/>
              </a:rPr>
              <a:t>main.cpp</a:t>
            </a:r>
            <a:endParaRPr lang="en-US" sz="4000" dirty="0"/>
          </a:p>
        </p:txBody>
      </p:sp>
      <p:sp>
        <p:nvSpPr>
          <p:cNvPr id="6" name="Text 4"/>
          <p:cNvSpPr/>
          <p:nvPr/>
        </p:nvSpPr>
        <p:spPr>
          <a:xfrm>
            <a:off x="777240" y="2788920"/>
            <a:ext cx="7132320" cy="8229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System entry point, shared globals, hardware initialisation, task registry, and hardware WDT monitor task.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65A82"/>
          </a:solidFill>
          <a:ln w="12700">
            <a:solidFill>
              <a:srgbClr val="065A82"/>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setup()</a:t>
            </a:r>
            <a:endParaRPr lang="en-US" sz="2800" dirty="0"/>
          </a:p>
        </p:txBody>
      </p:sp>
      <p:sp>
        <p:nvSpPr>
          <p:cNvPr id="5" name="Shape 3"/>
          <p:cNvSpPr/>
          <p:nvPr/>
        </p:nvSpPr>
        <p:spPr>
          <a:xfrm>
            <a:off x="274320" y="868680"/>
            <a:ext cx="2103120" cy="246888"/>
          </a:xfrm>
          <a:prstGeom prst="rect">
            <a:avLst/>
          </a:prstGeom>
          <a:solidFill>
            <a:srgbClr val="065A82"/>
          </a:solidFill>
          <a:ln w="12700">
            <a:solidFill>
              <a:srgbClr val="065A82"/>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main.cpp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System boot sequence. Initialises all hardware peripherals: DHT11, heater relay, H-bridge motor driver (IN1/IN2/ENABLE), and servo. Creates all 9 FreeRTOS tasks in a deliberate order and starts the hardware watchdog.</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TaskCloud created first — priority 2, 8192-word stack for TLS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All other tasks at priority 1, 2048-word stack each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Watchdog: esp_task_wdt_init(5, true) — resets on fire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ESP32 FreeRTOS auto-starts — no vTaskStartScheduler() call needed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100ms delay after servo attach for MCU stabilisation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65A82"/>
          </a:solidFill>
          <a:ln w="12700">
            <a:solidFill>
              <a:srgbClr val="065A82"/>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loop()</a:t>
            </a:r>
            <a:endParaRPr lang="en-US" sz="2800" dirty="0"/>
          </a:p>
        </p:txBody>
      </p:sp>
      <p:sp>
        <p:nvSpPr>
          <p:cNvPr id="5" name="Shape 3"/>
          <p:cNvSpPr/>
          <p:nvPr/>
        </p:nvSpPr>
        <p:spPr>
          <a:xfrm>
            <a:off x="274320" y="868680"/>
            <a:ext cx="2103120" cy="246888"/>
          </a:xfrm>
          <a:prstGeom prst="rect">
            <a:avLst/>
          </a:prstGeom>
          <a:solidFill>
            <a:srgbClr val="065A82"/>
          </a:solidFill>
          <a:ln w="12700">
            <a:solidFill>
              <a:srgbClr val="065A82"/>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main.cpp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Intentionally empty. The FreeRTOS scheduler takes full control after setup() completes. All real work runs inside the 9 FreeRTOS tasks, each with its own stack and driven purely by notifications from the scheduler.</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Left empty by design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Arduino's loop() runs in a low-priority ESP-IDF task</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FreeRTOS scheduler pre-empts it immediately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No polling, no busy-waiting — all work is event-driven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65A82"/>
          </a:solidFill>
          <a:ln w="12700">
            <a:solidFill>
              <a:srgbClr val="065A82"/>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TaskwatchdogMonitor()</a:t>
            </a:r>
            <a:endParaRPr lang="en-US" sz="2800" dirty="0"/>
          </a:p>
        </p:txBody>
      </p:sp>
      <p:sp>
        <p:nvSpPr>
          <p:cNvPr id="5" name="Shape 3"/>
          <p:cNvSpPr/>
          <p:nvPr/>
        </p:nvSpPr>
        <p:spPr>
          <a:xfrm>
            <a:off x="274320" y="868680"/>
            <a:ext cx="2103120" cy="246888"/>
          </a:xfrm>
          <a:prstGeom prst="rect">
            <a:avLst/>
          </a:prstGeom>
          <a:solidFill>
            <a:srgbClr val="065A82"/>
          </a:solidFill>
          <a:ln w="12700">
            <a:solidFill>
              <a:srgbClr val="065A82"/>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main.cpp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Final system health guardian. Wakes once per cycle (slot 8, notified by the scheduler). Checks that all 6 worker tasks have set their health bits in systemHealth, then decides whether to kick the hardware WDT or let it fire.</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065A82"/>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Registers itself with WDT via esp_task_wdt_add(NULL)</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Blocks on ulTaskNotifyTake(portMAX_DELAY)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Checks systemHealth == HEALTH_REQUIRED (0x3F)</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Kicks WDT via esp_task_wdt_reset() only if all 6 bits set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Resets systemHealth to 0x00 every cycle regardless of outcome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0E7490"/>
          </a:solidFill>
          <a:ln w="12700">
            <a:solidFill>
              <a:srgbClr val="0E7490"/>
            </a:solidFill>
            <a:prstDash val="solid"/>
          </a:ln>
        </p:spPr>
      </p:sp>
      <p:sp>
        <p:nvSpPr>
          <p:cNvPr id="3" name="Shape 1"/>
          <p:cNvSpPr/>
          <p:nvPr/>
        </p:nvSpPr>
        <p:spPr>
          <a:xfrm>
            <a:off x="502920" y="568599"/>
            <a:ext cx="3657600" cy="3657600"/>
          </a:xfrm>
          <a:prstGeom prst="ellipse">
            <a:avLst/>
          </a:prstGeom>
          <a:solidFill>
            <a:srgbClr val="0E7490">
              <a:alpha val="12000"/>
            </a:srgbClr>
          </a:solidFill>
          <a:ln w="12700">
            <a:solidFill>
              <a:srgbClr val="0E7490"/>
            </a:solidFill>
            <a:prstDash val="solid"/>
          </a:ln>
        </p:spPr>
      </p:sp>
      <p:sp>
        <p:nvSpPr>
          <p:cNvPr id="4" name="Text 2"/>
          <p:cNvSpPr/>
          <p:nvPr/>
        </p:nvSpPr>
        <p:spPr>
          <a:xfrm>
            <a:off x="777240" y="1417320"/>
            <a:ext cx="5486400" cy="347472"/>
          </a:xfrm>
          <a:prstGeom prst="rect">
            <a:avLst/>
          </a:prstGeom>
          <a:noFill/>
          <a:ln/>
        </p:spPr>
        <p:txBody>
          <a:bodyPr wrap="square" lIns="0" tIns="0" rIns="0" bIns="0" rtlCol="0" anchor="ctr"/>
          <a:lstStyle/>
          <a:p>
            <a:pPr marL="0" indent="0">
              <a:buNone/>
            </a:pPr>
            <a:r>
              <a:rPr lang="en-US" sz="1100" b="1" kern="0" spc="400" dirty="0">
                <a:solidFill>
                  <a:srgbClr val="0E7490"/>
                </a:solidFill>
                <a:latin typeface="Calibri" pitchFamily="34" charset="0"/>
                <a:ea typeface="Calibri" pitchFamily="34" charset="-122"/>
                <a:cs typeface="Calibri" pitchFamily="34" charset="-120"/>
              </a:rPr>
              <a:t>SOURCE FILE</a:t>
            </a:r>
            <a:endParaRPr lang="en-US" sz="1100" dirty="0"/>
          </a:p>
        </p:txBody>
      </p:sp>
      <p:sp>
        <p:nvSpPr>
          <p:cNvPr id="5" name="Text 3"/>
          <p:cNvSpPr/>
          <p:nvPr/>
        </p:nvSpPr>
        <p:spPr>
          <a:xfrm>
            <a:off x="777240" y="1810512"/>
            <a:ext cx="8046720" cy="868680"/>
          </a:xfrm>
          <a:prstGeom prst="rect">
            <a:avLst/>
          </a:prstGeom>
          <a:noFill/>
          <a:ln/>
        </p:spPr>
        <p:txBody>
          <a:bodyPr wrap="square" lIns="0" tIns="0" rIns="0" bIns="0" rtlCol="0" anchor="ctr"/>
          <a:lstStyle/>
          <a:p>
            <a:pPr marL="0" indent="0">
              <a:buNone/>
            </a:pPr>
            <a:r>
              <a:rPr lang="en-US" sz="4000" b="1" dirty="0">
                <a:solidFill>
                  <a:srgbClr val="FFFFFF"/>
                </a:solidFill>
                <a:latin typeface="Consolas" pitchFamily="34" charset="0"/>
                <a:ea typeface="Consolas" pitchFamily="34" charset="-122"/>
                <a:cs typeface="Consolas" pitchFamily="34" charset="-120"/>
              </a:rPr>
              <a:t>Scheduler.cpp</a:t>
            </a:r>
            <a:endParaRPr lang="en-US" sz="4000" dirty="0"/>
          </a:p>
        </p:txBody>
      </p:sp>
      <p:sp>
        <p:nvSpPr>
          <p:cNvPr id="6" name="Text 4"/>
          <p:cNvSpPr/>
          <p:nvPr/>
        </p:nvSpPr>
        <p:spPr>
          <a:xfrm>
            <a:off x="777240" y="2788920"/>
            <a:ext cx="7132320" cy="8229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Master heartbeat task. Runs at priority 3 and drives all other tasks at a precise 250 ms cadence using vTaskDelayUntil().</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E7490"/>
          </a:solidFill>
          <a:ln w="12700">
            <a:solidFill>
              <a:srgbClr val="0E7490"/>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TaskTimeScheduler()</a:t>
            </a:r>
            <a:endParaRPr lang="en-US" sz="2800" dirty="0"/>
          </a:p>
        </p:txBody>
      </p:sp>
      <p:sp>
        <p:nvSpPr>
          <p:cNvPr id="5" name="Shape 3"/>
          <p:cNvSpPr/>
          <p:nvPr/>
        </p:nvSpPr>
        <p:spPr>
          <a:xfrm>
            <a:off x="274320" y="868680"/>
            <a:ext cx="2103120" cy="246888"/>
          </a:xfrm>
          <a:prstGeom prst="rect">
            <a:avLst/>
          </a:prstGeom>
          <a:solidFill>
            <a:srgbClr val="0E7490"/>
          </a:solidFill>
          <a:ln w="12700">
            <a:solidFill>
              <a:srgbClr val="0E7490"/>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Scheduler.cpp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Master timing heartbeat. Runs at priority 3 — the highest in the system. Notifies every task in sequence with a 250 ms gap between slots using xTaskNotifyGive(). Cloud telemetry is rate-limited independently to every 15 seconds.</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0E7490"/>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Priority 3 — no worker task can preempt it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8 task slots × 250 ms = 2-second full round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vTaskDelayUntil() absorbs notification overhead — no timing drift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Cloud notified only when 15s have elapsed since last send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Null-checks each task handle before notifying (safe startup)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D4ED8"/>
          </a:solidFill>
          <a:ln w="12700">
            <a:solidFill>
              <a:srgbClr val="1D4ED8"/>
            </a:solidFill>
            <a:prstDash val="solid"/>
          </a:ln>
        </p:spPr>
      </p:sp>
      <p:sp>
        <p:nvSpPr>
          <p:cNvPr id="3" name="Shape 1"/>
          <p:cNvSpPr/>
          <p:nvPr/>
        </p:nvSpPr>
        <p:spPr>
          <a:xfrm>
            <a:off x="457664" y="525780"/>
            <a:ext cx="3657600" cy="3657600"/>
          </a:xfrm>
          <a:prstGeom prst="ellipse">
            <a:avLst/>
          </a:prstGeom>
          <a:solidFill>
            <a:srgbClr val="1D4ED8">
              <a:alpha val="12000"/>
            </a:srgbClr>
          </a:solidFill>
          <a:ln w="12700">
            <a:solidFill>
              <a:srgbClr val="1D4ED8"/>
            </a:solidFill>
            <a:prstDash val="solid"/>
          </a:ln>
        </p:spPr>
      </p:sp>
      <p:sp>
        <p:nvSpPr>
          <p:cNvPr id="4" name="Text 2"/>
          <p:cNvSpPr/>
          <p:nvPr/>
        </p:nvSpPr>
        <p:spPr>
          <a:xfrm>
            <a:off x="777240" y="1417320"/>
            <a:ext cx="5486400" cy="347472"/>
          </a:xfrm>
          <a:prstGeom prst="rect">
            <a:avLst/>
          </a:prstGeom>
          <a:noFill/>
          <a:ln/>
        </p:spPr>
        <p:txBody>
          <a:bodyPr wrap="square" lIns="0" tIns="0" rIns="0" bIns="0" rtlCol="0" anchor="ctr"/>
          <a:lstStyle/>
          <a:p>
            <a:pPr marL="0" indent="0">
              <a:buNone/>
            </a:pPr>
            <a:r>
              <a:rPr lang="en-US" sz="1100" b="1" kern="0" spc="400" dirty="0">
                <a:solidFill>
                  <a:srgbClr val="1D4ED8"/>
                </a:solidFill>
                <a:latin typeface="Calibri" pitchFamily="34" charset="0"/>
                <a:ea typeface="Calibri" pitchFamily="34" charset="-122"/>
                <a:cs typeface="Calibri" pitchFamily="34" charset="-120"/>
              </a:rPr>
              <a:t>SOURCE FILE</a:t>
            </a:r>
            <a:endParaRPr lang="en-US" sz="1100" dirty="0"/>
          </a:p>
        </p:txBody>
      </p:sp>
      <p:sp>
        <p:nvSpPr>
          <p:cNvPr id="5" name="Text 3"/>
          <p:cNvSpPr/>
          <p:nvPr/>
        </p:nvSpPr>
        <p:spPr>
          <a:xfrm>
            <a:off x="777240" y="1810512"/>
            <a:ext cx="8046720" cy="868680"/>
          </a:xfrm>
          <a:prstGeom prst="rect">
            <a:avLst/>
          </a:prstGeom>
          <a:noFill/>
          <a:ln/>
        </p:spPr>
        <p:txBody>
          <a:bodyPr wrap="square" lIns="0" tIns="0" rIns="0" bIns="0" rtlCol="0" anchor="ctr"/>
          <a:lstStyle/>
          <a:p>
            <a:pPr marL="0" indent="0">
              <a:buNone/>
            </a:pPr>
            <a:r>
              <a:rPr lang="en-US" sz="4000" b="1" dirty="0">
                <a:solidFill>
                  <a:srgbClr val="FFFFFF"/>
                </a:solidFill>
                <a:latin typeface="Consolas" pitchFamily="34" charset="0"/>
                <a:ea typeface="Consolas" pitchFamily="34" charset="-122"/>
                <a:cs typeface="Consolas" pitchFamily="34" charset="-120"/>
              </a:rPr>
              <a:t>DataToCloud.cpp</a:t>
            </a:r>
            <a:endParaRPr lang="en-US" sz="4000" dirty="0"/>
          </a:p>
        </p:txBody>
      </p:sp>
      <p:sp>
        <p:nvSpPr>
          <p:cNvPr id="6" name="Text 4"/>
          <p:cNvSpPr/>
          <p:nvPr/>
        </p:nvSpPr>
        <p:spPr>
          <a:xfrm>
            <a:off x="777240" y="2788920"/>
            <a:ext cx="7132320" cy="8229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Full WiFi / MQTT cloud lifecycle: connection, telemetry publish, command reception, and 10-minute offline watchdog.</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D4ED8"/>
          </a:solidFill>
          <a:ln w="12700">
            <a:solidFill>
              <a:srgbClr val="1D4ED8"/>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TaskCloud()</a:t>
            </a:r>
            <a:endParaRPr lang="en-US" sz="2800" dirty="0"/>
          </a:p>
        </p:txBody>
      </p:sp>
      <p:sp>
        <p:nvSpPr>
          <p:cNvPr id="5" name="Shape 3"/>
          <p:cNvSpPr/>
          <p:nvPr/>
        </p:nvSpPr>
        <p:spPr>
          <a:xfrm>
            <a:off x="274320" y="868680"/>
            <a:ext cx="2103120" cy="246888"/>
          </a:xfrm>
          <a:prstGeom prst="rect">
            <a:avLst/>
          </a:prstGeom>
          <a:solidFill>
            <a:srgbClr val="1D4ED8"/>
          </a:solidFill>
          <a:ln w="12700">
            <a:solidFill>
              <a:srgbClr val="1D4ED8"/>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DataToCloud.cpp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MQTT connection lifecycle manager. Uses a 500 ms timed notification wait as a dual-purpose mechanism: poll the MQTT client for keepalive every 500 ms, and react immediately when the scheduler triggers a telemetry publish (every 15 s).</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ulTaskNotifyTake with 500ms timeout (poll + notify in one call)</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Tracks lastConnectionTime while connected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10-minute offline countdown → esp_restart() for recovery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Calls sendHeaterData() only when mqttClient.connected()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isDegradedMode flag signals UI of degraded connectivity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D4ED8"/>
          </a:solidFill>
          <a:ln w="12700">
            <a:solidFill>
              <a:srgbClr val="1D4ED8"/>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initializeCloud()</a:t>
            </a:r>
            <a:endParaRPr lang="en-US" sz="2800" dirty="0"/>
          </a:p>
        </p:txBody>
      </p:sp>
      <p:sp>
        <p:nvSpPr>
          <p:cNvPr id="5" name="Shape 3"/>
          <p:cNvSpPr/>
          <p:nvPr/>
        </p:nvSpPr>
        <p:spPr>
          <a:xfrm>
            <a:off x="274320" y="868680"/>
            <a:ext cx="2103120" cy="246888"/>
          </a:xfrm>
          <a:prstGeom prst="rect">
            <a:avLst/>
          </a:prstGeom>
          <a:solidFill>
            <a:srgbClr val="1D4ED8"/>
          </a:solidFill>
          <a:ln w="12700">
            <a:solidFill>
              <a:srgbClr val="1D4ED8"/>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DataToCloud.cpp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Full startup connection sequence. Connects to WiFi (with automatic SSID2 fallback on timeout), verifies IP assignment, syncs NTP, configures MQTT credentials and Last Will &amp; Testament, sets the TLS CA certificate, and connects to HiveMQ with up to 10 retry attempts.</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SSID1 → 5s timeout → automatic SSID2 fallback</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LWT: broker publishes 'offline' on unexpected disconnect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wifiClient.setCACert(ROOT_CA) — ESP32 has no built-in CA store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WDT kicked at 3 blocking points (WiFi done, before TLS, after connect)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Subscribes to commands + weather topics on success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D4ED8"/>
          </a:solidFill>
          <a:ln w="12700">
            <a:solidFill>
              <a:srgbClr val="1D4ED8"/>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sendHeaterData()</a:t>
            </a:r>
            <a:endParaRPr lang="en-US" sz="2800" dirty="0"/>
          </a:p>
        </p:txBody>
      </p:sp>
      <p:sp>
        <p:nvSpPr>
          <p:cNvPr id="5" name="Shape 3"/>
          <p:cNvSpPr/>
          <p:nvPr/>
        </p:nvSpPr>
        <p:spPr>
          <a:xfrm>
            <a:off x="274320" y="868680"/>
            <a:ext cx="2103120" cy="246888"/>
          </a:xfrm>
          <a:prstGeom prst="rect">
            <a:avLst/>
          </a:prstGeom>
          <a:solidFill>
            <a:srgbClr val="1D4ED8"/>
          </a:solidFill>
          <a:ln w="12700">
            <a:solidFill>
              <a:srgbClr val="1D4ED8"/>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DataToCloud.cpp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Serialises the complete system state into a JSON payload and publishes it to boilers/ESP/status as a retained MQTT message. Called every 15 seconds by the scheduler notification, and also immediately after any command is received.</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14-field JSON: pump, boiler temp, home temp, DHT, valve, health...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Retained message — UI receives latest state on connect, before next publish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Payload serialised to String first — avoids ArduinoMqttClient 256-byte limit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Called on schedule AND after every command for immediate UI feedback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D4ED8"/>
          </a:solidFill>
          <a:ln w="12700">
            <a:solidFill>
              <a:srgbClr val="1D4ED8"/>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onMqttMessageReceived()</a:t>
            </a:r>
            <a:endParaRPr lang="en-US" sz="2800" dirty="0"/>
          </a:p>
        </p:txBody>
      </p:sp>
      <p:sp>
        <p:nvSpPr>
          <p:cNvPr id="5" name="Shape 3"/>
          <p:cNvSpPr/>
          <p:nvPr/>
        </p:nvSpPr>
        <p:spPr>
          <a:xfrm>
            <a:off x="274320" y="868680"/>
            <a:ext cx="2103120" cy="246888"/>
          </a:xfrm>
          <a:prstGeom prst="rect">
            <a:avLst/>
          </a:prstGeom>
          <a:solidFill>
            <a:srgbClr val="1D4ED8"/>
          </a:solidFill>
          <a:ln w="12700">
            <a:solidFill>
              <a:srgbClr val="1D4ED8"/>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DataToCloud.cpp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MQTT message callback registered with mqttClient.onMessage(). Parses incoming JSON from the commands topic and routes each command to the correct global variable. Safety clamping is applied on the Arduino side regardless of what the server sends.</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1D4ED8"/>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"heater" → heaterState (only when manualOverride is active)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"temperature" → targetHomeTemp, clamped 5–30 °C</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"manualOverride" → switches between auto and manual mode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"heaterSetPoint" → heaterTempSetPoint, clamped 40–70 °C</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"weather" → outdoor data from Open-Meteo, sets g_useCloudWeather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B91C1C"/>
          </a:solidFill>
          <a:ln w="12700">
            <a:solidFill>
              <a:srgbClr val="B91C1C"/>
            </a:solidFill>
            <a:prstDash val="solid"/>
          </a:ln>
        </p:spPr>
      </p:sp>
      <p:sp>
        <p:nvSpPr>
          <p:cNvPr id="3" name="Shape 1"/>
          <p:cNvSpPr/>
          <p:nvPr/>
        </p:nvSpPr>
        <p:spPr>
          <a:xfrm>
            <a:off x="502920" y="628940"/>
            <a:ext cx="3657600" cy="3657600"/>
          </a:xfrm>
          <a:prstGeom prst="ellipse">
            <a:avLst/>
          </a:prstGeom>
          <a:solidFill>
            <a:srgbClr val="B91C1C">
              <a:alpha val="12000"/>
            </a:srgbClr>
          </a:solidFill>
          <a:ln w="12700">
            <a:solidFill>
              <a:srgbClr val="B91C1C"/>
            </a:solidFill>
            <a:prstDash val="solid"/>
          </a:ln>
        </p:spPr>
      </p:sp>
      <p:sp>
        <p:nvSpPr>
          <p:cNvPr id="4" name="Text 2"/>
          <p:cNvSpPr/>
          <p:nvPr/>
        </p:nvSpPr>
        <p:spPr>
          <a:xfrm>
            <a:off x="777240" y="1417320"/>
            <a:ext cx="5486400" cy="347472"/>
          </a:xfrm>
          <a:prstGeom prst="rect">
            <a:avLst/>
          </a:prstGeom>
          <a:noFill/>
          <a:ln/>
        </p:spPr>
        <p:txBody>
          <a:bodyPr wrap="square" lIns="0" tIns="0" rIns="0" bIns="0" rtlCol="0" anchor="ctr"/>
          <a:lstStyle/>
          <a:p>
            <a:pPr marL="0" indent="0">
              <a:buNone/>
            </a:pPr>
            <a:r>
              <a:rPr lang="en-US" sz="1100" b="1" kern="0" spc="400" dirty="0">
                <a:solidFill>
                  <a:srgbClr val="B91C1C"/>
                </a:solidFill>
                <a:latin typeface="Calibri" pitchFamily="34" charset="0"/>
                <a:ea typeface="Calibri" pitchFamily="34" charset="-122"/>
                <a:cs typeface="Calibri" pitchFamily="34" charset="-120"/>
              </a:rPr>
              <a:t>SOURCE FILE</a:t>
            </a:r>
            <a:endParaRPr lang="en-US" sz="1100" dirty="0"/>
          </a:p>
        </p:txBody>
      </p:sp>
      <p:sp>
        <p:nvSpPr>
          <p:cNvPr id="5" name="Text 3"/>
          <p:cNvSpPr/>
          <p:nvPr/>
        </p:nvSpPr>
        <p:spPr>
          <a:xfrm>
            <a:off x="777240" y="1810512"/>
            <a:ext cx="8046720" cy="868680"/>
          </a:xfrm>
          <a:prstGeom prst="rect">
            <a:avLst/>
          </a:prstGeom>
          <a:noFill/>
          <a:ln/>
        </p:spPr>
        <p:txBody>
          <a:bodyPr wrap="square" lIns="0" tIns="0" rIns="0" bIns="0" rtlCol="0" anchor="ctr"/>
          <a:lstStyle/>
          <a:p>
            <a:pPr marL="0" indent="0">
              <a:buNone/>
            </a:pPr>
            <a:r>
              <a:rPr lang="en-US" sz="4000" b="1" dirty="0">
                <a:solidFill>
                  <a:srgbClr val="FFFFFF"/>
                </a:solidFill>
                <a:latin typeface="Consolas" pitchFamily="34" charset="0"/>
                <a:ea typeface="Consolas" pitchFamily="34" charset="-122"/>
                <a:cs typeface="Consolas" pitchFamily="34" charset="-120"/>
              </a:rPr>
              <a:t>Heater.cpp</a:t>
            </a:r>
            <a:endParaRPr lang="en-US" sz="4000" dirty="0"/>
          </a:p>
        </p:txBody>
      </p:sp>
      <p:sp>
        <p:nvSpPr>
          <p:cNvPr id="6" name="Text 4"/>
          <p:cNvSpPr/>
          <p:nvPr/>
        </p:nvSpPr>
        <p:spPr>
          <a:xfrm>
            <a:off x="777240" y="2788920"/>
            <a:ext cx="7132320" cy="8229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Heater relay control and automatic thermostat logic with 5 °C hysteresis to prevent rapid relay cycling.</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91C1C"/>
          </a:solidFill>
          <a:ln w="12700">
            <a:solidFill>
              <a:srgbClr val="B91C1C"/>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TaskHeater()</a:t>
            </a:r>
            <a:endParaRPr lang="en-US" sz="2800" dirty="0"/>
          </a:p>
        </p:txBody>
      </p:sp>
      <p:sp>
        <p:nvSpPr>
          <p:cNvPr id="5" name="Shape 3"/>
          <p:cNvSpPr/>
          <p:nvPr/>
        </p:nvSpPr>
        <p:spPr>
          <a:xfrm>
            <a:off x="274320" y="868680"/>
            <a:ext cx="2103120" cy="246888"/>
          </a:xfrm>
          <a:prstGeom prst="rect">
            <a:avLst/>
          </a:prstGeom>
          <a:solidFill>
            <a:srgbClr val="B91C1C"/>
          </a:solidFill>
          <a:ln w="12700">
            <a:solidFill>
              <a:srgbClr val="B91C1C"/>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Heater.cpp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FreeRTOS task wrapper. Blocks indefinitely on ulTaskNotifyTake() until the scheduler sends a notification (slot 1 — the first task woken each 250 ms cycle). Immediately dispatches to doHeaterSequence().</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B91C1C"/>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First task notified every cycle (slot 1 of 8)</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Blocks with portMAX_DELAY — zero CPU use while idle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Priority 1, 2048-word stack</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No logic here — pure notification-to-action dispatch</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91C1C"/>
          </a:solidFill>
          <a:ln w="12700">
            <a:solidFill>
              <a:srgbClr val="B91C1C"/>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doHeaterSequence()</a:t>
            </a:r>
            <a:endParaRPr lang="en-US" sz="2800" dirty="0"/>
          </a:p>
        </p:txBody>
      </p:sp>
      <p:sp>
        <p:nvSpPr>
          <p:cNvPr id="5" name="Shape 3"/>
          <p:cNvSpPr/>
          <p:nvPr/>
        </p:nvSpPr>
        <p:spPr>
          <a:xfrm>
            <a:off x="274320" y="868680"/>
            <a:ext cx="2103120" cy="246888"/>
          </a:xfrm>
          <a:prstGeom prst="rect">
            <a:avLst/>
          </a:prstGeom>
          <a:solidFill>
            <a:srgbClr val="B91C1C"/>
          </a:solidFill>
          <a:ln w="12700">
            <a:solidFill>
              <a:srgbClr val="B91C1C"/>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Heater.cpp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Drives the physical heater relay to match heaterState. When manual override is disabled, automatically recalculates heaterState from boiler water temperature vs. setpoint with a 5 °C hysteresis band to prevent rapid relay cycling.</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B91C1C"/>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Relay: digitalWrite(HIGH) if heaterState, LOW otherwise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Auto mode (manualOverride == false):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  ON  when g_heaterWaterTemp &lt; heaterTempSetPoint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  OFF when g_heaterWaterTemp &gt; setPoint + 5 °C</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Sets systemHealth |= (1 &lt;&lt; 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7C3AED"/>
          </a:solidFill>
          <a:ln w="12700">
            <a:solidFill>
              <a:srgbClr val="7C3AED"/>
            </a:solidFill>
            <a:prstDash val="solid"/>
          </a:ln>
        </p:spPr>
      </p:sp>
      <p:sp>
        <p:nvSpPr>
          <p:cNvPr id="3" name="Shape 1"/>
          <p:cNvSpPr/>
          <p:nvPr/>
        </p:nvSpPr>
        <p:spPr>
          <a:xfrm>
            <a:off x="502920" y="525780"/>
            <a:ext cx="3657600" cy="3657600"/>
          </a:xfrm>
          <a:prstGeom prst="ellipse">
            <a:avLst/>
          </a:prstGeom>
          <a:solidFill>
            <a:srgbClr val="7C3AED">
              <a:alpha val="12000"/>
            </a:srgbClr>
          </a:solidFill>
          <a:ln w="12700">
            <a:solidFill>
              <a:srgbClr val="7C3AED"/>
            </a:solidFill>
            <a:prstDash val="solid"/>
          </a:ln>
        </p:spPr>
      </p:sp>
      <p:sp>
        <p:nvSpPr>
          <p:cNvPr id="4" name="Text 2"/>
          <p:cNvSpPr/>
          <p:nvPr/>
        </p:nvSpPr>
        <p:spPr>
          <a:xfrm>
            <a:off x="777240" y="1417320"/>
            <a:ext cx="5486400" cy="347472"/>
          </a:xfrm>
          <a:prstGeom prst="rect">
            <a:avLst/>
          </a:prstGeom>
          <a:noFill/>
          <a:ln/>
        </p:spPr>
        <p:txBody>
          <a:bodyPr wrap="square" lIns="0" tIns="0" rIns="0" bIns="0" rtlCol="0" anchor="ctr"/>
          <a:lstStyle/>
          <a:p>
            <a:pPr marL="0" indent="0">
              <a:buNone/>
            </a:pPr>
            <a:r>
              <a:rPr lang="en-US" sz="1100" b="1" kern="0" spc="400" dirty="0">
                <a:solidFill>
                  <a:srgbClr val="7C3AED"/>
                </a:solidFill>
                <a:latin typeface="Calibri" pitchFamily="34" charset="0"/>
                <a:ea typeface="Calibri" pitchFamily="34" charset="-122"/>
                <a:cs typeface="Calibri" pitchFamily="34" charset="-120"/>
              </a:rPr>
              <a:t>SOURCE FILE</a:t>
            </a:r>
            <a:endParaRPr lang="en-US" sz="1100" dirty="0"/>
          </a:p>
        </p:txBody>
      </p:sp>
      <p:sp>
        <p:nvSpPr>
          <p:cNvPr id="5" name="Text 3"/>
          <p:cNvSpPr/>
          <p:nvPr/>
        </p:nvSpPr>
        <p:spPr>
          <a:xfrm>
            <a:off x="777240" y="1810512"/>
            <a:ext cx="8046720" cy="868680"/>
          </a:xfrm>
          <a:prstGeom prst="rect">
            <a:avLst/>
          </a:prstGeom>
          <a:noFill/>
          <a:ln/>
        </p:spPr>
        <p:txBody>
          <a:bodyPr wrap="square" lIns="0" tIns="0" rIns="0" bIns="0" rtlCol="0" anchor="ctr"/>
          <a:lstStyle/>
          <a:p>
            <a:pPr marL="0" indent="0">
              <a:buNone/>
            </a:pPr>
            <a:r>
              <a:rPr lang="en-US" sz="4000" b="1" dirty="0">
                <a:solidFill>
                  <a:srgbClr val="FFFFFF"/>
                </a:solidFill>
                <a:latin typeface="Consolas" pitchFamily="34" charset="0"/>
                <a:ea typeface="Consolas" pitchFamily="34" charset="-122"/>
                <a:cs typeface="Consolas" pitchFamily="34" charset="-120"/>
              </a:rPr>
              <a:t>WaterActuator.cpp</a:t>
            </a:r>
            <a:endParaRPr lang="en-US" sz="4000" dirty="0"/>
          </a:p>
        </p:txBody>
      </p:sp>
      <p:sp>
        <p:nvSpPr>
          <p:cNvPr id="6" name="Text 4"/>
          <p:cNvSpPr/>
          <p:nvPr/>
        </p:nvSpPr>
        <p:spPr>
          <a:xfrm>
            <a:off x="777240" y="2788920"/>
            <a:ext cx="7132320" cy="8229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Water pump and servo valve control. 3-zone proportional logic with hysteresis and analytical equilibrium valve calculation.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w="12700">
            <a:solidFill>
              <a:srgbClr val="7C3AED"/>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TaskWaterActuator()</a:t>
            </a:r>
            <a:endParaRPr lang="en-US" sz="2800" dirty="0"/>
          </a:p>
        </p:txBody>
      </p:sp>
      <p:sp>
        <p:nvSpPr>
          <p:cNvPr id="5" name="Shape 3"/>
          <p:cNvSpPr/>
          <p:nvPr/>
        </p:nvSpPr>
        <p:spPr>
          <a:xfrm>
            <a:off x="274320" y="868680"/>
            <a:ext cx="2103120" cy="246888"/>
          </a:xfrm>
          <a:prstGeom prst="rect">
            <a:avLst/>
          </a:prstGeom>
          <a:solidFill>
            <a:srgbClr val="7C3AED"/>
          </a:solidFill>
          <a:ln w="12700">
            <a:solidFill>
              <a:srgbClr val="7C3AED"/>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WaterActuator.cpp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FreeRTOS task wrapper. Wakes on notification from the scheduler (slot 2, 250 ms after TaskHeater), then calls doWaterActuatorSequence(). Blocks indefinitely between wakeups.</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7C3AED"/>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Slot 2 in the scheduler — wakes 250 ms after TaskHeater</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Blocks on ulTaskNotifyTake(portMAX_DELAY)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Priority 1, 2048-word stack</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Dispatches to doWaterActuatorSequence()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w="12700">
            <a:solidFill>
              <a:srgbClr val="7C3AED"/>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driveWaterPump()</a:t>
            </a:r>
            <a:endParaRPr lang="en-US" sz="2800" dirty="0"/>
          </a:p>
        </p:txBody>
      </p:sp>
      <p:sp>
        <p:nvSpPr>
          <p:cNvPr id="5" name="Shape 3"/>
          <p:cNvSpPr/>
          <p:nvPr/>
        </p:nvSpPr>
        <p:spPr>
          <a:xfrm>
            <a:off x="274320" y="868680"/>
            <a:ext cx="2103120" cy="246888"/>
          </a:xfrm>
          <a:prstGeom prst="rect">
            <a:avLst/>
          </a:prstGeom>
          <a:solidFill>
            <a:srgbClr val="7C3AED"/>
          </a:solidFill>
          <a:ln w="12700">
            <a:solidFill>
              <a:srgbClr val="7C3AED"/>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WaterActuator.cpp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Controls the H-bridge motor driver (in1Pin, in2Pin, enablePin) to run or stop the water circulation pump. Updates g_WaterPumpSpeed and sets health bit 0 to signal the watchdog.</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7C3AED"/>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spd &gt; 0: IN1=HIGH, IN2=LOW, analogWrite(enable, 255)</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spd == 0: IN1=LOW, IN2=LOW, analogWrite(enable, 0)</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g_WaterPumpSpeed set to 100 (running) or 0 (stopped)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Sets systemHealth |= (1 &lt;&lt; 0) — pump health bit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w="12700">
            <a:solidFill>
              <a:srgbClr val="7C3AED"/>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controlHomeTemp()</a:t>
            </a:r>
            <a:endParaRPr lang="en-US" sz="2800" dirty="0"/>
          </a:p>
        </p:txBody>
      </p:sp>
      <p:sp>
        <p:nvSpPr>
          <p:cNvPr id="5" name="Shape 3"/>
          <p:cNvSpPr/>
          <p:nvPr/>
        </p:nvSpPr>
        <p:spPr>
          <a:xfrm>
            <a:off x="274320" y="868680"/>
            <a:ext cx="2103120" cy="246888"/>
          </a:xfrm>
          <a:prstGeom prst="rect">
            <a:avLst/>
          </a:prstGeom>
          <a:solidFill>
            <a:srgbClr val="7C3AED"/>
          </a:solidFill>
          <a:ln w="12700">
            <a:solidFill>
              <a:srgbClr val="7C3AED"/>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WaterActuator.cpp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3-zone thermostat selecting pump speed and valve angle based on home temperature vs. target. Uses ±0.5 °C deadband and 0.2 °C hysteresis to prevent rapid zone switching at boundaries.</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7C3AED"/>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Zone 1 (cold): pump ON, valve 180° — maximum heat delivery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Zone 2 (equilibrium): pump ON, valve at analytically computed angle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Zone 3 (warm): pump OFF, valve 0° — no heat delivery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Equilibrium: solve gainFactor so heat gain exactly equals heat loss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Hysteresis: must cross 0.2 °C past boundary before changing zone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C3AED"/>
          </a:solidFill>
          <a:ln w="12700">
            <a:solidFill>
              <a:srgbClr val="7C3AED"/>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doWaterActuatorSequence()</a:t>
            </a:r>
            <a:endParaRPr lang="en-US" sz="2800" dirty="0"/>
          </a:p>
        </p:txBody>
      </p:sp>
      <p:sp>
        <p:nvSpPr>
          <p:cNvPr id="5" name="Shape 3"/>
          <p:cNvSpPr/>
          <p:nvPr/>
        </p:nvSpPr>
        <p:spPr>
          <a:xfrm>
            <a:off x="274320" y="868680"/>
            <a:ext cx="2103120" cy="246888"/>
          </a:xfrm>
          <a:prstGeom prst="rect">
            <a:avLst/>
          </a:prstGeom>
          <a:solidFill>
            <a:srgbClr val="7C3AED"/>
          </a:solidFill>
          <a:ln w="12700">
            <a:solidFill>
              <a:srgbClr val="7C3AED"/>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WaterActuator.cpp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Thin wrapper called each cycle by TaskWaterActuator. Runs the full 3-zone control logic and then sets the valve health bit in the system health bitmask.</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7C3AED"/>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Calls controlHomeTemp() to apply 3-zone logic</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Sets systemHealth |= (1 &lt;&lt; 5) — valve health bit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Health bits 0 (pump) and 5 (valve) are both required</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Watchdog considers this task healthy only when both bits are set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0369A1"/>
          </a:solidFill>
          <a:ln w="12700">
            <a:solidFill>
              <a:srgbClr val="0369A1"/>
            </a:solidFill>
            <a:prstDash val="solid"/>
          </a:ln>
        </p:spPr>
      </p:sp>
      <p:sp>
        <p:nvSpPr>
          <p:cNvPr id="3" name="Shape 1"/>
          <p:cNvSpPr/>
          <p:nvPr/>
        </p:nvSpPr>
        <p:spPr>
          <a:xfrm>
            <a:off x="320040" y="800680"/>
            <a:ext cx="3657600" cy="3657600"/>
          </a:xfrm>
          <a:prstGeom prst="ellipse">
            <a:avLst/>
          </a:prstGeom>
          <a:solidFill>
            <a:srgbClr val="0369A1">
              <a:alpha val="12000"/>
            </a:srgbClr>
          </a:solidFill>
          <a:ln w="12700">
            <a:solidFill>
              <a:srgbClr val="0369A1"/>
            </a:solidFill>
            <a:prstDash val="solid"/>
          </a:ln>
        </p:spPr>
      </p:sp>
      <p:sp>
        <p:nvSpPr>
          <p:cNvPr id="4" name="Text 2"/>
          <p:cNvSpPr/>
          <p:nvPr/>
        </p:nvSpPr>
        <p:spPr>
          <a:xfrm>
            <a:off x="777240" y="1417320"/>
            <a:ext cx="5486400" cy="347472"/>
          </a:xfrm>
          <a:prstGeom prst="rect">
            <a:avLst/>
          </a:prstGeom>
          <a:noFill/>
          <a:ln/>
        </p:spPr>
        <p:txBody>
          <a:bodyPr wrap="square" lIns="0" tIns="0" rIns="0" bIns="0" rtlCol="0" anchor="ctr"/>
          <a:lstStyle/>
          <a:p>
            <a:pPr marL="0" indent="0">
              <a:buNone/>
            </a:pPr>
            <a:r>
              <a:rPr lang="en-US" sz="1100" b="1" kern="0" spc="400" dirty="0">
                <a:solidFill>
                  <a:srgbClr val="0369A1"/>
                </a:solidFill>
                <a:latin typeface="Calibri" pitchFamily="34" charset="0"/>
                <a:ea typeface="Calibri" pitchFamily="34" charset="-122"/>
                <a:cs typeface="Calibri" pitchFamily="34" charset="-120"/>
              </a:rPr>
              <a:t>SOURCE FILE</a:t>
            </a:r>
            <a:endParaRPr lang="en-US" sz="1100" dirty="0"/>
          </a:p>
        </p:txBody>
      </p:sp>
      <p:sp>
        <p:nvSpPr>
          <p:cNvPr id="5" name="Text 3"/>
          <p:cNvSpPr/>
          <p:nvPr/>
        </p:nvSpPr>
        <p:spPr>
          <a:xfrm>
            <a:off x="777240" y="1810512"/>
            <a:ext cx="8046720" cy="868680"/>
          </a:xfrm>
          <a:prstGeom prst="rect">
            <a:avLst/>
          </a:prstGeom>
          <a:noFill/>
          <a:ln/>
        </p:spPr>
        <p:txBody>
          <a:bodyPr wrap="square" lIns="0" tIns="0" rIns="0" bIns="0" rtlCol="0" anchor="ctr"/>
          <a:lstStyle/>
          <a:p>
            <a:pPr marL="0" indent="0">
              <a:buNone/>
            </a:pPr>
            <a:r>
              <a:rPr lang="en-US" sz="4000" b="1" dirty="0">
                <a:solidFill>
                  <a:srgbClr val="FFFFFF"/>
                </a:solidFill>
                <a:latin typeface="Consolas" pitchFamily="34" charset="0"/>
                <a:ea typeface="Consolas" pitchFamily="34" charset="-122"/>
                <a:cs typeface="Consolas" pitchFamily="34" charset="-120"/>
              </a:rPr>
              <a:t>Sensors.cpp</a:t>
            </a:r>
            <a:endParaRPr lang="en-US" sz="4000" dirty="0"/>
          </a:p>
        </p:txBody>
      </p:sp>
      <p:sp>
        <p:nvSpPr>
          <p:cNvPr id="6" name="Text 4"/>
          <p:cNvSpPr/>
          <p:nvPr/>
        </p:nvSpPr>
        <p:spPr>
          <a:xfrm>
            <a:off x="777240" y="2788920"/>
            <a:ext cx="7132320" cy="8229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Three FreeRTOS tasks: home air temperature model, boiler water temperature model, and physical DHT11 sensor read.</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369A1"/>
          </a:solidFill>
          <a:ln w="12700">
            <a:solidFill>
              <a:srgbClr val="0369A1"/>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TaskHomeTemp()</a:t>
            </a:r>
            <a:endParaRPr lang="en-US" sz="2800" dirty="0"/>
          </a:p>
        </p:txBody>
      </p:sp>
      <p:sp>
        <p:nvSpPr>
          <p:cNvPr id="5" name="Shape 3"/>
          <p:cNvSpPr/>
          <p:nvPr/>
        </p:nvSpPr>
        <p:spPr>
          <a:xfrm>
            <a:off x="274320" y="868680"/>
            <a:ext cx="2103120" cy="246888"/>
          </a:xfrm>
          <a:prstGeom prst="rect">
            <a:avLst/>
          </a:prstGeom>
          <a:solidFill>
            <a:srgbClr val="0369A1"/>
          </a:solidFill>
          <a:ln w="12700">
            <a:solidFill>
              <a:srgbClr val="0369A1"/>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Sensors.cpp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FreeRTOS task wrapper for the home air temperature simulation. Wakes on notification from the scheduler (slot 4) and calls doHomeTempRead() to advance the HomeTempModel by one time step.</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0369A1"/>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Slot 4 in the scheduler — wakes 750 ms into each cycle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Blocks on ulTaskNotifyTake(portMAX_DELAY)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Priority 1, 2048-word stack</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Delegates all logic to doHomeTempRead()</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369A1"/>
          </a:solidFill>
          <a:ln w="12700">
            <a:solidFill>
              <a:srgbClr val="0369A1"/>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TaskHeaterTemp()</a:t>
            </a:r>
            <a:endParaRPr lang="en-US" sz="2800" dirty="0"/>
          </a:p>
        </p:txBody>
      </p:sp>
      <p:sp>
        <p:nvSpPr>
          <p:cNvPr id="5" name="Shape 3"/>
          <p:cNvSpPr/>
          <p:nvPr/>
        </p:nvSpPr>
        <p:spPr>
          <a:xfrm>
            <a:off x="274320" y="868680"/>
            <a:ext cx="2103120" cy="246888"/>
          </a:xfrm>
          <a:prstGeom prst="rect">
            <a:avLst/>
          </a:prstGeom>
          <a:solidFill>
            <a:srgbClr val="0369A1"/>
          </a:solidFill>
          <a:ln w="12700">
            <a:solidFill>
              <a:srgbClr val="0369A1"/>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Sensors.cpp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FreeRTOS task wrapper for the boiler water temperature simulation. Wakes on notification (slot 3) and calls doHeaterTempRead() to advance the HeaterModel by one time step.</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0369A1"/>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Slot 3 in the scheduler — wakes 500 ms into each cycle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Blocks on ulTaskNotifyTake(portMAX_DELAY)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Priority 1, 2048-word stack</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Delegates all logic to doHeaterTempRead()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369A1"/>
          </a:solidFill>
          <a:ln w="12700">
            <a:solidFill>
              <a:srgbClr val="0369A1"/>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TaskDHT()</a:t>
            </a:r>
            <a:endParaRPr lang="en-US" sz="2800" dirty="0"/>
          </a:p>
        </p:txBody>
      </p:sp>
      <p:sp>
        <p:nvSpPr>
          <p:cNvPr id="5" name="Shape 3"/>
          <p:cNvSpPr/>
          <p:nvPr/>
        </p:nvSpPr>
        <p:spPr>
          <a:xfrm>
            <a:off x="274320" y="868680"/>
            <a:ext cx="2103120" cy="246888"/>
          </a:xfrm>
          <a:prstGeom prst="rect">
            <a:avLst/>
          </a:prstGeom>
          <a:solidFill>
            <a:srgbClr val="0369A1"/>
          </a:solidFill>
          <a:ln w="12700">
            <a:solidFill>
              <a:srgbClr val="0369A1"/>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Sensors.cpp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FreeRTOS task wrapper for the physical DHT11 sensor. Wakes on notification (slot 5) and calls doDHTRead() to perform the humidity and temperature read from the sensor.</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0369A1"/>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Slot 5 in the scheduler — wakes 1000 ms into each cycle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Blocks on ulTaskNotifyTake(portMAX_DELAY)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Priority 1, 2048-word stack</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Delegates all logic to doDHTRead()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369A1"/>
          </a:solidFill>
          <a:ln w="12700">
            <a:solidFill>
              <a:srgbClr val="0369A1"/>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doHomeTempRead()</a:t>
            </a:r>
            <a:endParaRPr lang="en-US" sz="2800" dirty="0"/>
          </a:p>
        </p:txBody>
      </p:sp>
      <p:sp>
        <p:nvSpPr>
          <p:cNvPr id="5" name="Shape 3"/>
          <p:cNvSpPr/>
          <p:nvPr/>
        </p:nvSpPr>
        <p:spPr>
          <a:xfrm>
            <a:off x="274320" y="868680"/>
            <a:ext cx="2103120" cy="246888"/>
          </a:xfrm>
          <a:prstGeom prst="rect">
            <a:avLst/>
          </a:prstGeom>
          <a:solidFill>
            <a:srgbClr val="0369A1"/>
          </a:solidFill>
          <a:ln w="12700">
            <a:solidFill>
              <a:srgbClr val="0369A1"/>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Sensors.cpp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Advances the home air temperature simulation by one real-time step and signals the watchdog. Delegates the physics calculation entirely to updateHomeTempModel() in HomeTempModel.cpp.</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0369A1"/>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Calls updateHomeTempModel() — defined in HomeTempModel.cpp</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Sets systemHealth |= (1 &lt;&lt; 1)</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Health bit 1 = home temperature model ran this cycle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369A1"/>
          </a:solidFill>
          <a:ln w="12700">
            <a:solidFill>
              <a:srgbClr val="0369A1"/>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doHeaterTempRead()</a:t>
            </a:r>
            <a:endParaRPr lang="en-US" sz="2800" dirty="0"/>
          </a:p>
        </p:txBody>
      </p:sp>
      <p:sp>
        <p:nvSpPr>
          <p:cNvPr id="5" name="Shape 3"/>
          <p:cNvSpPr/>
          <p:nvPr/>
        </p:nvSpPr>
        <p:spPr>
          <a:xfrm>
            <a:off x="274320" y="868680"/>
            <a:ext cx="2103120" cy="246888"/>
          </a:xfrm>
          <a:prstGeom prst="rect">
            <a:avLst/>
          </a:prstGeom>
          <a:solidFill>
            <a:srgbClr val="0369A1"/>
          </a:solidFill>
          <a:ln w="12700">
            <a:solidFill>
              <a:srgbClr val="0369A1"/>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Sensors.cpp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Advances the boiler water temperature simulation by one real-time step and signals the watchdog. Delegates the physics calculation to updateHeaterModel() in HeaterModel.cpp.</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0369A1"/>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Calls updateHeaterModel() — defined in HeaterModel.cpp</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Sets systemHealth |= (1 &lt;&lt; 2)</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Health bit 2 = heater temperature model ran this cycle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369A1"/>
          </a:solidFill>
          <a:ln w="12700">
            <a:solidFill>
              <a:srgbClr val="0369A1"/>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doDHTRead()</a:t>
            </a:r>
            <a:endParaRPr lang="en-US" sz="2800" dirty="0"/>
          </a:p>
        </p:txBody>
      </p:sp>
      <p:sp>
        <p:nvSpPr>
          <p:cNvPr id="5" name="Shape 3"/>
          <p:cNvSpPr/>
          <p:nvPr/>
        </p:nvSpPr>
        <p:spPr>
          <a:xfrm>
            <a:off x="274320" y="868680"/>
            <a:ext cx="2103120" cy="246888"/>
          </a:xfrm>
          <a:prstGeom prst="rect">
            <a:avLst/>
          </a:prstGeom>
          <a:solidFill>
            <a:srgbClr val="0369A1"/>
          </a:solidFill>
          <a:ln w="12700">
            <a:solidFill>
              <a:srgbClr val="0369A1"/>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Sensors.cpp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Reads temperature and humidity from the physical DHT11 sensor. Skips the hardware read entirely when cloud weather is active, so real outdoor data from Open-Meteo (pushed via MQTT) is not overwritten by the indoor sensor.</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0369A1"/>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If g_useCloudWeather == true: sets health bit and returns immediately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Reads dht.readHumidity() and dht.readTemperature()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NaN on sensor error → sentinel values 100 / 100 written to globals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Sets systemHealth |= (1 &lt;&lt; 3)</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B45309"/>
          </a:solidFill>
          <a:ln w="12700">
            <a:solidFill>
              <a:srgbClr val="B45309"/>
            </a:solidFill>
            <a:prstDash val="solid"/>
          </a:ln>
        </p:spPr>
      </p:sp>
      <p:sp>
        <p:nvSpPr>
          <p:cNvPr id="3" name="Shape 1"/>
          <p:cNvSpPr/>
          <p:nvPr/>
        </p:nvSpPr>
        <p:spPr>
          <a:xfrm>
            <a:off x="502920" y="596449"/>
            <a:ext cx="3657600" cy="3657600"/>
          </a:xfrm>
          <a:prstGeom prst="ellipse">
            <a:avLst/>
          </a:prstGeom>
          <a:solidFill>
            <a:srgbClr val="B45309">
              <a:alpha val="12000"/>
            </a:srgbClr>
          </a:solidFill>
          <a:ln w="12700">
            <a:solidFill>
              <a:srgbClr val="B45309"/>
            </a:solidFill>
            <a:prstDash val="solid"/>
          </a:ln>
        </p:spPr>
      </p:sp>
      <p:sp>
        <p:nvSpPr>
          <p:cNvPr id="4" name="Text 2"/>
          <p:cNvSpPr/>
          <p:nvPr/>
        </p:nvSpPr>
        <p:spPr>
          <a:xfrm>
            <a:off x="777240" y="1417320"/>
            <a:ext cx="5486400" cy="347472"/>
          </a:xfrm>
          <a:prstGeom prst="rect">
            <a:avLst/>
          </a:prstGeom>
          <a:noFill/>
          <a:ln/>
        </p:spPr>
        <p:txBody>
          <a:bodyPr wrap="square" lIns="0" tIns="0" rIns="0" bIns="0" rtlCol="0" anchor="ctr"/>
          <a:lstStyle/>
          <a:p>
            <a:pPr marL="0" indent="0">
              <a:buNone/>
            </a:pPr>
            <a:r>
              <a:rPr lang="en-US" sz="1100" b="1" kern="0" spc="400" dirty="0">
                <a:solidFill>
                  <a:srgbClr val="B45309"/>
                </a:solidFill>
                <a:latin typeface="Calibri" pitchFamily="34" charset="0"/>
                <a:ea typeface="Calibri" pitchFamily="34" charset="-122"/>
                <a:cs typeface="Calibri" pitchFamily="34" charset="-120"/>
              </a:rPr>
              <a:t>SOURCE FILE</a:t>
            </a:r>
            <a:endParaRPr lang="en-US" sz="1100" dirty="0"/>
          </a:p>
        </p:txBody>
      </p:sp>
      <p:sp>
        <p:nvSpPr>
          <p:cNvPr id="5" name="Text 3"/>
          <p:cNvSpPr/>
          <p:nvPr/>
        </p:nvSpPr>
        <p:spPr>
          <a:xfrm>
            <a:off x="777240" y="1810512"/>
            <a:ext cx="8046720" cy="868680"/>
          </a:xfrm>
          <a:prstGeom prst="rect">
            <a:avLst/>
          </a:prstGeom>
          <a:noFill/>
          <a:ln/>
        </p:spPr>
        <p:txBody>
          <a:bodyPr wrap="square" lIns="0" tIns="0" rIns="0" bIns="0" rtlCol="0" anchor="ctr"/>
          <a:lstStyle/>
          <a:p>
            <a:pPr marL="0" indent="0">
              <a:buNone/>
            </a:pPr>
            <a:r>
              <a:rPr lang="en-US" sz="4000" b="1" dirty="0">
                <a:solidFill>
                  <a:srgbClr val="FFFFFF"/>
                </a:solidFill>
                <a:latin typeface="Consolas" pitchFamily="34" charset="0"/>
                <a:ea typeface="Consolas" pitchFamily="34" charset="-122"/>
                <a:cs typeface="Consolas" pitchFamily="34" charset="-120"/>
              </a:rPr>
              <a:t>HeaterModel.cpp</a:t>
            </a:r>
            <a:endParaRPr lang="en-US" sz="4000" dirty="0"/>
          </a:p>
        </p:txBody>
      </p:sp>
      <p:sp>
        <p:nvSpPr>
          <p:cNvPr id="6" name="Text 4"/>
          <p:cNvSpPr/>
          <p:nvPr/>
        </p:nvSpPr>
        <p:spPr>
          <a:xfrm>
            <a:off x="777240" y="2788920"/>
            <a:ext cx="7132320" cy="8229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Boiler water temperature simulation (to be replaced by a real sensor). Heater ON rises linearly; OFF cools with outdoor-dependent rate.</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B45309"/>
          </a:solidFill>
          <a:ln w="12700">
            <a:solidFill>
              <a:srgbClr val="B45309"/>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updateHeaterModel()</a:t>
            </a:r>
            <a:endParaRPr lang="en-US" sz="2800" dirty="0"/>
          </a:p>
        </p:txBody>
      </p:sp>
      <p:sp>
        <p:nvSpPr>
          <p:cNvPr id="5" name="Shape 3"/>
          <p:cNvSpPr/>
          <p:nvPr/>
        </p:nvSpPr>
        <p:spPr>
          <a:xfrm>
            <a:off x="274320" y="868680"/>
            <a:ext cx="2103120" cy="246888"/>
          </a:xfrm>
          <a:prstGeom prst="rect">
            <a:avLst/>
          </a:prstGeom>
          <a:solidFill>
            <a:srgbClr val="B45309"/>
          </a:solidFill>
          <a:ln w="12700">
            <a:solidFill>
              <a:srgbClr val="B45309"/>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HeaterModel.cpp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Simulates g_heaterWaterTemp over time based on heater relay state and outdoor temperature. Called every 250 ms. Computes a real elapsed-time delta (millis) for physics accuracy.</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B45309"/>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First call: timer init only — no temperature change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Heater ON: +1 °C per 20 s, hard cap at 90 °C</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Heater OFF: cooling rate interpolated by outdoor temperature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  −5 °C outdoor → 1 °C per 10 min (fastest cooling)</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  +30 °C outdoor → 1 °C per 20 min (slowest cooling)</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5803D"/>
          </a:solidFill>
          <a:ln w="12700">
            <a:solidFill>
              <a:srgbClr val="15803D"/>
            </a:solidFill>
            <a:prstDash val="solid"/>
          </a:ln>
        </p:spPr>
      </p:sp>
      <p:sp>
        <p:nvSpPr>
          <p:cNvPr id="3" name="Shape 1"/>
          <p:cNvSpPr/>
          <p:nvPr/>
        </p:nvSpPr>
        <p:spPr>
          <a:xfrm>
            <a:off x="496422" y="642865"/>
            <a:ext cx="3657600" cy="3657600"/>
          </a:xfrm>
          <a:prstGeom prst="ellipse">
            <a:avLst/>
          </a:prstGeom>
          <a:solidFill>
            <a:srgbClr val="15803D">
              <a:alpha val="12000"/>
            </a:srgbClr>
          </a:solidFill>
          <a:ln w="12700">
            <a:solidFill>
              <a:srgbClr val="15803D"/>
            </a:solidFill>
            <a:prstDash val="solid"/>
          </a:ln>
        </p:spPr>
      </p:sp>
      <p:sp>
        <p:nvSpPr>
          <p:cNvPr id="4" name="Text 2"/>
          <p:cNvSpPr/>
          <p:nvPr/>
        </p:nvSpPr>
        <p:spPr>
          <a:xfrm>
            <a:off x="777240" y="1417320"/>
            <a:ext cx="5486400" cy="347472"/>
          </a:xfrm>
          <a:prstGeom prst="rect">
            <a:avLst/>
          </a:prstGeom>
          <a:noFill/>
          <a:ln/>
        </p:spPr>
        <p:txBody>
          <a:bodyPr wrap="square" lIns="0" tIns="0" rIns="0" bIns="0" rtlCol="0" anchor="ctr"/>
          <a:lstStyle/>
          <a:p>
            <a:pPr marL="0" indent="0">
              <a:buNone/>
            </a:pPr>
            <a:r>
              <a:rPr lang="en-US" sz="1100" b="1" kern="0" spc="400" dirty="0">
                <a:solidFill>
                  <a:srgbClr val="15803D"/>
                </a:solidFill>
                <a:latin typeface="Calibri" pitchFamily="34" charset="0"/>
                <a:ea typeface="Calibri" pitchFamily="34" charset="-122"/>
                <a:cs typeface="Calibri" pitchFamily="34" charset="-120"/>
              </a:rPr>
              <a:t>SOURCE FILE</a:t>
            </a:r>
            <a:endParaRPr lang="en-US" sz="1100" dirty="0"/>
          </a:p>
        </p:txBody>
      </p:sp>
      <p:sp>
        <p:nvSpPr>
          <p:cNvPr id="5" name="Text 3"/>
          <p:cNvSpPr/>
          <p:nvPr/>
        </p:nvSpPr>
        <p:spPr>
          <a:xfrm>
            <a:off x="777240" y="1810512"/>
            <a:ext cx="8046720" cy="868680"/>
          </a:xfrm>
          <a:prstGeom prst="rect">
            <a:avLst/>
          </a:prstGeom>
          <a:noFill/>
          <a:ln/>
        </p:spPr>
        <p:txBody>
          <a:bodyPr wrap="square" lIns="0" tIns="0" rIns="0" bIns="0" rtlCol="0" anchor="ctr"/>
          <a:lstStyle/>
          <a:p>
            <a:pPr marL="0" indent="0">
              <a:buNone/>
            </a:pPr>
            <a:r>
              <a:rPr lang="en-US" sz="4000" b="1" dirty="0">
                <a:solidFill>
                  <a:srgbClr val="FFFFFF"/>
                </a:solidFill>
                <a:latin typeface="Consolas" pitchFamily="34" charset="0"/>
                <a:ea typeface="Consolas" pitchFamily="34" charset="-122"/>
                <a:cs typeface="Consolas" pitchFamily="34" charset="-120"/>
              </a:rPr>
              <a:t>HomeTempModel.cpp</a:t>
            </a:r>
            <a:endParaRPr lang="en-US" sz="4000" dirty="0"/>
          </a:p>
        </p:txBody>
      </p:sp>
      <p:sp>
        <p:nvSpPr>
          <p:cNvPr id="6" name="Text 4"/>
          <p:cNvSpPr/>
          <p:nvPr/>
        </p:nvSpPr>
        <p:spPr>
          <a:xfrm>
            <a:off x="777240" y="2788920"/>
            <a:ext cx="7132320" cy="8229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Home air temperature simulation using Newton's law of cooling with boiler heat gain and bidirectional outdoor heat exchange.</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5803D"/>
          </a:solidFill>
          <a:ln w="12700">
            <a:solidFill>
              <a:srgbClr val="15803D"/>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updateHomeTempModel()</a:t>
            </a:r>
            <a:endParaRPr lang="en-US" sz="2800" dirty="0"/>
          </a:p>
        </p:txBody>
      </p:sp>
      <p:sp>
        <p:nvSpPr>
          <p:cNvPr id="5" name="Shape 3"/>
          <p:cNvSpPr/>
          <p:nvPr/>
        </p:nvSpPr>
        <p:spPr>
          <a:xfrm>
            <a:off x="274320" y="868680"/>
            <a:ext cx="2103120" cy="246888"/>
          </a:xfrm>
          <a:prstGeom prst="rect">
            <a:avLst/>
          </a:prstGeom>
          <a:solidFill>
            <a:srgbClr val="15803D"/>
          </a:solidFill>
          <a:ln w="12700">
            <a:solidFill>
              <a:srgbClr val="15803D"/>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HomeTempModel.cpp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Simulates g_homeTemp over time. Applies two simultaneous heat exchange processes each step: heat gain from the boiler (valve and pump-dependent) and bidirectional thermal exchange with the outdoor environment.</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15803D"/>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First call: timer init only — no temperature change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Heat gain (pump running only): HEAT_GAIN_RATE × gainFactor × ΔT_boiler × Δt</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gainFactor: 10% at valve 0°, 100% at valve 180°</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Outdoor exchange: HEAT_LOSS_RATE × (home − outdoor) × Δt (bidirectional)</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~24h to equilibrate with outdoors; ~15min to reach boiler temp (full open)</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374151"/>
          </a:solidFill>
          <a:ln w="12700">
            <a:solidFill>
              <a:srgbClr val="374151"/>
            </a:solidFill>
            <a:prstDash val="solid"/>
          </a:ln>
        </p:spPr>
      </p:sp>
      <p:sp>
        <p:nvSpPr>
          <p:cNvPr id="3" name="Shape 1"/>
          <p:cNvSpPr/>
          <p:nvPr/>
        </p:nvSpPr>
        <p:spPr>
          <a:xfrm>
            <a:off x="466948" y="689281"/>
            <a:ext cx="3657600" cy="3657600"/>
          </a:xfrm>
          <a:prstGeom prst="ellipse">
            <a:avLst/>
          </a:prstGeom>
          <a:solidFill>
            <a:srgbClr val="374151">
              <a:alpha val="12000"/>
            </a:srgbClr>
          </a:solidFill>
          <a:ln w="12700">
            <a:solidFill>
              <a:srgbClr val="374151"/>
            </a:solidFill>
            <a:prstDash val="solid"/>
          </a:ln>
        </p:spPr>
      </p:sp>
      <p:sp>
        <p:nvSpPr>
          <p:cNvPr id="4" name="Text 2"/>
          <p:cNvSpPr/>
          <p:nvPr/>
        </p:nvSpPr>
        <p:spPr>
          <a:xfrm>
            <a:off x="777240" y="1417320"/>
            <a:ext cx="5486400" cy="347472"/>
          </a:xfrm>
          <a:prstGeom prst="rect">
            <a:avLst/>
          </a:prstGeom>
          <a:noFill/>
          <a:ln/>
        </p:spPr>
        <p:txBody>
          <a:bodyPr wrap="square" lIns="0" tIns="0" rIns="0" bIns="0" rtlCol="0" anchor="ctr"/>
          <a:lstStyle/>
          <a:p>
            <a:pPr marL="0" indent="0">
              <a:buNone/>
            </a:pPr>
            <a:r>
              <a:rPr lang="en-US" sz="1100" b="1" kern="0" spc="400" dirty="0">
                <a:solidFill>
                  <a:srgbClr val="374151"/>
                </a:solidFill>
                <a:latin typeface="Calibri" pitchFamily="34" charset="0"/>
                <a:ea typeface="Calibri" pitchFamily="34" charset="-122"/>
                <a:cs typeface="Calibri" pitchFamily="34" charset="-120"/>
              </a:rPr>
              <a:t>SOURCE FILE</a:t>
            </a:r>
            <a:endParaRPr lang="en-US" sz="1100" dirty="0"/>
          </a:p>
        </p:txBody>
      </p:sp>
      <p:sp>
        <p:nvSpPr>
          <p:cNvPr id="5" name="Text 3"/>
          <p:cNvSpPr/>
          <p:nvPr/>
        </p:nvSpPr>
        <p:spPr>
          <a:xfrm>
            <a:off x="777240" y="1810512"/>
            <a:ext cx="8046720" cy="868680"/>
          </a:xfrm>
          <a:prstGeom prst="rect">
            <a:avLst/>
          </a:prstGeom>
          <a:noFill/>
          <a:ln/>
        </p:spPr>
        <p:txBody>
          <a:bodyPr wrap="square" lIns="0" tIns="0" rIns="0" bIns="0" rtlCol="0" anchor="ctr"/>
          <a:lstStyle/>
          <a:p>
            <a:pPr marL="0" indent="0">
              <a:buNone/>
            </a:pPr>
            <a:r>
              <a:rPr lang="en-US" sz="4000" b="1" dirty="0">
                <a:solidFill>
                  <a:srgbClr val="FFFFFF"/>
                </a:solidFill>
                <a:latin typeface="Consolas" pitchFamily="34" charset="0"/>
                <a:ea typeface="Consolas" pitchFamily="34" charset="-122"/>
                <a:cs typeface="Consolas" pitchFamily="34" charset="-120"/>
              </a:rPr>
              <a:t>HeapMonitor.cpp</a:t>
            </a:r>
            <a:endParaRPr lang="en-US" sz="4000" dirty="0"/>
          </a:p>
        </p:txBody>
      </p:sp>
      <p:sp>
        <p:nvSpPr>
          <p:cNvPr id="6" name="Text 4"/>
          <p:cNvSpPr/>
          <p:nvPr/>
        </p:nvSpPr>
        <p:spPr>
          <a:xfrm>
            <a:off x="777240" y="2788920"/>
            <a:ext cx="7132320" cy="82296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FreeRTOS runtime diagnostics: stack high-water marks for all 9 tasks, free heap, minimum-ever heap, and health bitmask.</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74151"/>
          </a:solidFill>
          <a:ln w="12700">
            <a:solidFill>
              <a:srgbClr val="374151"/>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TaskMonitor()</a:t>
            </a:r>
            <a:endParaRPr lang="en-US" sz="2800" dirty="0"/>
          </a:p>
        </p:txBody>
      </p:sp>
      <p:sp>
        <p:nvSpPr>
          <p:cNvPr id="5" name="Shape 3"/>
          <p:cNvSpPr/>
          <p:nvPr/>
        </p:nvSpPr>
        <p:spPr>
          <a:xfrm>
            <a:off x="274320" y="868680"/>
            <a:ext cx="2103120" cy="246888"/>
          </a:xfrm>
          <a:prstGeom prst="rect">
            <a:avLst/>
          </a:prstGeom>
          <a:solidFill>
            <a:srgbClr val="374151"/>
          </a:solidFill>
          <a:ln w="12700">
            <a:solidFill>
              <a:srgbClr val="374151"/>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HeapMonitor.cpp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FreeRTOS diagnostic task. Wakes once per cycle when notified by the scheduler (slot 7) and calls printRtosStats() to dump a full diagnostics block to the serial console.</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374151"/>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Slot 7 in the scheduler — wakes 1500 ms into each cycle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Blocks on ulTaskNotifyTake(portMAX_DELAY)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Priority 1, 2048-word stack</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Delegates output to printRtosStats()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74151"/>
          </a:solidFill>
          <a:ln w="12700">
            <a:solidFill>
              <a:srgbClr val="374151"/>
            </a:solidFill>
            <a:prstDash val="solid"/>
          </a:ln>
        </p:spPr>
      </p:sp>
      <p:sp>
        <p:nvSpPr>
          <p:cNvPr id="3" name="Shape 1"/>
          <p:cNvSpPr/>
          <p:nvPr/>
        </p:nvSpPr>
        <p:spPr>
          <a:xfrm>
            <a:off x="109728" y="0"/>
            <a:ext cx="9034272" cy="1234440"/>
          </a:xfrm>
          <a:prstGeom prst="rect">
            <a:avLst/>
          </a:prstGeom>
          <a:solidFill>
            <a:srgbClr val="FFFFFF"/>
          </a:solidFill>
          <a:ln w="12700">
            <a:solidFill>
              <a:srgbClr val="E2E8F0"/>
            </a:solidFill>
            <a:prstDash val="solid"/>
          </a:ln>
        </p:spPr>
      </p:sp>
      <p:sp>
        <p:nvSpPr>
          <p:cNvPr id="4" name="Text 2"/>
          <p:cNvSpPr/>
          <p:nvPr/>
        </p:nvSpPr>
        <p:spPr>
          <a:xfrm>
            <a:off x="274320" y="118872"/>
            <a:ext cx="8046720" cy="685800"/>
          </a:xfrm>
          <a:prstGeom prst="rect">
            <a:avLst/>
          </a:prstGeom>
          <a:noFill/>
          <a:ln/>
        </p:spPr>
        <p:txBody>
          <a:bodyPr wrap="square" lIns="0" tIns="0" rIns="0" bIns="0" rtlCol="0" anchor="ctr"/>
          <a:lstStyle/>
          <a:p>
            <a:pPr marL="0" indent="0">
              <a:buNone/>
            </a:pPr>
            <a:r>
              <a:rPr lang="en-US" sz="2800" b="1" dirty="0">
                <a:solidFill>
                  <a:srgbClr val="1E293B"/>
                </a:solidFill>
                <a:latin typeface="Consolas" pitchFamily="34" charset="0"/>
                <a:ea typeface="Consolas" pitchFamily="34" charset="-122"/>
                <a:cs typeface="Consolas" pitchFamily="34" charset="-120"/>
              </a:rPr>
              <a:t>printRtosStats()</a:t>
            </a:r>
            <a:endParaRPr lang="en-US" sz="2800" dirty="0"/>
          </a:p>
        </p:txBody>
      </p:sp>
      <p:sp>
        <p:nvSpPr>
          <p:cNvPr id="5" name="Shape 3"/>
          <p:cNvSpPr/>
          <p:nvPr/>
        </p:nvSpPr>
        <p:spPr>
          <a:xfrm>
            <a:off x="274320" y="868680"/>
            <a:ext cx="2103120" cy="246888"/>
          </a:xfrm>
          <a:prstGeom prst="rect">
            <a:avLst/>
          </a:prstGeom>
          <a:solidFill>
            <a:srgbClr val="374151"/>
          </a:solidFill>
          <a:ln w="12700">
            <a:solidFill>
              <a:srgbClr val="374151"/>
            </a:solidFill>
            <a:prstDash val="solid"/>
          </a:ln>
        </p:spPr>
      </p:sp>
      <p:sp>
        <p:nvSpPr>
          <p:cNvPr id="6" name="Text 4"/>
          <p:cNvSpPr/>
          <p:nvPr/>
        </p:nvSpPr>
        <p:spPr>
          <a:xfrm>
            <a:off x="310896" y="875081"/>
            <a:ext cx="2029968" cy="219456"/>
          </a:xfrm>
          <a:prstGeom prst="rect">
            <a:avLst/>
          </a:prstGeom>
          <a:noFill/>
          <a:ln/>
        </p:spPr>
        <p:txBody>
          <a:bodyPr wrap="square" lIns="0" tIns="0" rIns="0" bIns="0" rtlCol="0" anchor="ctr"/>
          <a:lstStyle/>
          <a:p>
            <a:pPr marL="0" indent="0">
              <a:buNone/>
            </a:pPr>
            <a:r>
              <a:rPr lang="en-US" sz="1000" b="1" dirty="0">
                <a:solidFill>
                  <a:srgbClr val="FFFFFF"/>
                </a:solidFill>
                <a:latin typeface="Consolas" pitchFamily="34" charset="0"/>
                <a:ea typeface="Consolas" pitchFamily="34" charset="-122"/>
                <a:cs typeface="Consolas" pitchFamily="34" charset="-120"/>
              </a:rPr>
              <a:t>HeapMonitor.cpp</a:t>
            </a:r>
            <a:endParaRPr lang="en-US" sz="1000" dirty="0"/>
          </a:p>
        </p:txBody>
      </p:sp>
      <p:sp>
        <p:nvSpPr>
          <p:cNvPr id="7" name="Shape 5"/>
          <p:cNvSpPr/>
          <p:nvPr/>
        </p:nvSpPr>
        <p:spPr>
          <a:xfrm>
            <a:off x="274320" y="1216152"/>
            <a:ext cx="8641080" cy="0"/>
          </a:xfrm>
          <a:prstGeom prst="line">
            <a:avLst/>
          </a:prstGeom>
          <a:noFill/>
          <a:ln w="12700">
            <a:solidFill>
              <a:srgbClr val="D1D9E0"/>
            </a:solidFill>
            <a:prstDash val="solid"/>
          </a:ln>
        </p:spPr>
      </p:sp>
      <p:sp>
        <p:nvSpPr>
          <p:cNvPr id="8" name="Text 6"/>
          <p:cNvSpPr/>
          <p:nvPr/>
        </p:nvSpPr>
        <p:spPr>
          <a:xfrm>
            <a:off x="274320" y="1371600"/>
            <a:ext cx="4846320" cy="256032"/>
          </a:xfrm>
          <a:prstGeom prst="rect">
            <a:avLst/>
          </a:prstGeom>
          <a:noFill/>
          <a:ln/>
        </p:spPr>
        <p:txBody>
          <a:bodyPr wrap="square" lIns="0" tIns="0" rIns="0" bIns="0" rtlCol="0" anchor="ctr"/>
          <a:lstStyle/>
          <a:p>
            <a:pPr marL="0" indent="0">
              <a:buNone/>
            </a:pPr>
            <a:r>
              <a:rPr lang="en-US" sz="900" b="1" kern="0" spc="300" dirty="0">
                <a:solidFill>
                  <a:srgbClr val="64748B"/>
                </a:solidFill>
                <a:latin typeface="Calibri" pitchFamily="34" charset="0"/>
                <a:ea typeface="Calibri" pitchFamily="34" charset="-122"/>
                <a:cs typeface="Calibri" pitchFamily="34" charset="-120"/>
              </a:rPr>
              <a:t>PURPOSE</a:t>
            </a:r>
            <a:endParaRPr lang="en-US" sz="900" dirty="0"/>
          </a:p>
        </p:txBody>
      </p:sp>
      <p:sp>
        <p:nvSpPr>
          <p:cNvPr id="9" name="Text 7"/>
          <p:cNvSpPr/>
          <p:nvPr/>
        </p:nvSpPr>
        <p:spPr>
          <a:xfrm>
            <a:off x="274320" y="1664208"/>
            <a:ext cx="4846320" cy="3200400"/>
          </a:xfrm>
          <a:prstGeom prst="rect">
            <a:avLst/>
          </a:prstGeom>
          <a:noFill/>
          <a:ln/>
        </p:spPr>
        <p:txBody>
          <a:bodyPr wrap="square" lIns="0" tIns="0" rIns="0" bIns="0" rtlCol="0" anchor="t"/>
          <a:lstStyle/>
          <a:p>
            <a:pPr marL="0" indent="0">
              <a:spcAft>
                <a:spcPts val="600"/>
              </a:spcAft>
              <a:buNone/>
            </a:pPr>
            <a:r>
              <a:rPr lang="en-US" sz="1350" dirty="0">
                <a:solidFill>
                  <a:srgbClr val="1E293B"/>
                </a:solidFill>
                <a:latin typeface="Calibri" pitchFamily="34" charset="0"/>
                <a:ea typeface="Calibri" pitchFamily="34" charset="-122"/>
                <a:cs typeface="Calibri" pitchFamily="34" charset="-120"/>
              </a:rPr>
              <a:t>Prints a complete diagnostics block to serial: stack high-water mark for every task, current free heap, minimum-ever free heap, and the systemHealth bitmask in binary. All output is guarded by the DEBUG macro and compiles out completely in production.</a:t>
            </a:r>
            <a:endParaRPr lang="en-US" sz="1350" dirty="0"/>
          </a:p>
        </p:txBody>
      </p:sp>
      <p:sp>
        <p:nvSpPr>
          <p:cNvPr id="10" name="Shape 8"/>
          <p:cNvSpPr/>
          <p:nvPr/>
        </p:nvSpPr>
        <p:spPr>
          <a:xfrm>
            <a:off x="5349240" y="1261872"/>
            <a:ext cx="3630168" cy="3749040"/>
          </a:xfrm>
          <a:prstGeom prst="rect">
            <a:avLst/>
          </a:prstGeom>
          <a:solidFill>
            <a:srgbClr val="FFFFFF"/>
          </a:solidFill>
          <a:ln w="12700">
            <a:solidFill>
              <a:srgbClr val="D1D9E0"/>
            </a:solidFill>
            <a:prstDash val="solid"/>
          </a:ln>
          <a:effectLst>
            <a:outerShdw blurRad="63500" dist="12700" dir="8100000" algn="bl" rotWithShape="0">
              <a:srgbClr val="000000">
                <a:alpha val="7000"/>
              </a:srgbClr>
            </a:outerShdw>
          </a:effectLst>
        </p:spPr>
      </p:sp>
      <p:sp>
        <p:nvSpPr>
          <p:cNvPr id="11" name="Text 9"/>
          <p:cNvSpPr/>
          <p:nvPr/>
        </p:nvSpPr>
        <p:spPr>
          <a:xfrm>
            <a:off x="5504688" y="1399032"/>
            <a:ext cx="3337560" cy="256032"/>
          </a:xfrm>
          <a:prstGeom prst="rect">
            <a:avLst/>
          </a:prstGeom>
          <a:noFill/>
          <a:ln/>
        </p:spPr>
        <p:txBody>
          <a:bodyPr wrap="square" lIns="0" tIns="0" rIns="0" bIns="0" rtlCol="0" anchor="ctr"/>
          <a:lstStyle/>
          <a:p>
            <a:pPr marL="0" indent="0">
              <a:buNone/>
            </a:pPr>
            <a:r>
              <a:rPr lang="en-US" sz="900" b="1" kern="0" spc="300" dirty="0">
                <a:solidFill>
                  <a:srgbClr val="374151"/>
                </a:solidFill>
                <a:latin typeface="Calibri" pitchFamily="34" charset="0"/>
                <a:ea typeface="Calibri" pitchFamily="34" charset="-122"/>
                <a:cs typeface="Calibri" pitchFamily="34" charset="-120"/>
              </a:rPr>
              <a:t>KEY POINTS</a:t>
            </a:r>
            <a:endParaRPr lang="en-US" sz="900" dirty="0"/>
          </a:p>
        </p:txBody>
      </p:sp>
      <p:sp>
        <p:nvSpPr>
          <p:cNvPr id="12" name="Text 10"/>
          <p:cNvSpPr/>
          <p:nvPr/>
        </p:nvSpPr>
        <p:spPr>
          <a:xfrm>
            <a:off x="5504688" y="1719072"/>
            <a:ext cx="3337560" cy="31546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All output via D_PRINT/D_PRINTLN — zero overhead in production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Stack HWM = minimum free words ever seen → detects overflow risk</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MinEver heap: tracks memory fragmentation over long uptime</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systemHealth printed in binary — each bit maps to one task</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Covers all 9 tasks: Heater, WaterAct, Temps, DHT, Heap, Sched, WDT, Cloud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2461</Words>
  <Application>Microsoft Office PowerPoint</Application>
  <PresentationFormat>Affichage à l'écran (16:9)</PresentationFormat>
  <Paragraphs>295</Paragraphs>
  <Slides>34</Slides>
  <Notes>34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34</vt:i4>
      </vt:variant>
    </vt:vector>
  </HeadingPairs>
  <TitlesOfParts>
    <vt:vector size="39" baseType="lpstr">
      <vt:lpstr>Arial</vt:lpstr>
      <vt:lpstr>Calibri</vt:lpstr>
      <vt:lpstr>Consolas</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ESP32-S3 Heater Project — Source Code Reference</dc:title>
  <dc:subject>PptxGenJS Presentation</dc:subject>
  <dc:creator>PptxGenJS</dc:creator>
  <cp:lastModifiedBy>Ahmad Saab</cp:lastModifiedBy>
  <cp:revision>3</cp:revision>
  <dcterms:created xsi:type="dcterms:W3CDTF">2026-06-18T08:13:31Z</dcterms:created>
  <dcterms:modified xsi:type="dcterms:W3CDTF">2026-06-18T08:29:56Z</dcterms:modified>
</cp:coreProperties>
</file>