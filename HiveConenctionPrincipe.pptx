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9" r:id="rId3"/>
    <p:sldId id="270" r:id="rId4"/>
    <p:sldId id="271" r:id="rId5"/>
    <p:sldId id="27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29285-E711-40B2-80D7-1F4F55FA87D3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E6053-C78D-4FA5-B1EC-9E0AECC3065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0517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E6053-C78D-4FA5-B1EC-9E0AECC30656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619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49CE62-6EF4-2E11-D33C-88FF8295F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F538D45-7354-6897-F1EF-938C230D7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1A14D4-701D-A655-FCD9-AD2ABE0F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8A1AC4-F58B-1F25-1325-279ED22D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FFB654-DCF3-B61D-2C12-E190BF72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90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9B9AF-8ADF-F0BB-B6CF-4C37F1BB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DF2760-53AC-F783-E261-F88A991A0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DC74DC-5BFA-6E79-2616-B020BD80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B2C5D2-6B09-6E16-2048-06FF8111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8E453C-A4D1-2B93-BF43-14D53FB2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776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11E8C-58D6-1E33-5449-7F8CAECF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CE4889-BB53-9763-5C61-7DDEBE642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B3B58D-B1CD-9403-6E08-3B5AA4E9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8016AF-5C2B-87FA-98F3-311E3DB4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91351B-AB1E-FE40-4C51-29449C48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0964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478ECF-41E2-EC8D-5B59-3D779465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41FF3D-B4CA-D8E1-71E9-B676CEF85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667C95-2C7E-2EBF-9C16-C1ACD50CE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D8368E-C610-28AE-9CA9-6A5A7CE31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5D78AF-D93E-FA02-646F-F9643BDC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7B85A2-A75B-1A13-1868-51CBAC4B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2734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0210E2-0A6D-E06A-BDF6-2DA471189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C423D8-7454-672F-168F-C7DA7B0C5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78799A-DE71-5760-CE63-E1F50C79A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E2CFB0-DA06-FE2A-5FE2-3C0E020E7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1A9E66C-754F-CE69-873F-7F7A51E88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2317B1-F493-D160-33A2-9686F768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EF6C73-1452-26A4-C8B6-00333EE3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7908694-B068-5BD0-755D-00DB71FD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83012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B4305E-114B-CD56-9E43-FB37D7C0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CBCE9F7-980A-B0FD-7CF4-378F3AD3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1E160DB-5DF8-F4FF-54BC-2B1073B0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FFE078-0EBB-5C74-3E60-49384AE2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570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92934D-9475-8A8A-1A53-980A9094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83B023-EC2F-4D80-8D30-4D6EEB70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C5C812-47C2-099A-57CD-F33FD818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4971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FF09B-A7EF-82B4-7163-C0027017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37D3B-EDF4-1CCB-8F64-F65C0911B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ABE566-B0DA-433C-349A-D7E2CBE7F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C8779E-A685-422A-263B-7762872DE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0A7F5-D945-FF03-45C2-3D811E4C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7A910D-1B94-FF21-403C-C814B622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889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84175-CEC5-76D0-4B00-6013E752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0CF841-C7A0-CD71-6352-92F861B47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5FF9C4-32E0-DB93-2E63-9DF49FCBB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062E82-BABA-AB39-4248-8BFBF2A8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D49FE2-EC66-092B-DEC2-5DEB071E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C8FE54-4539-0DCB-AC82-7E7C33E1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672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B7294-7376-9C47-A8FA-54A78C00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12959E-6D93-2D84-51F0-D0B4A3D10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18B10D-F9CD-159A-F436-88656882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A6AE0-7F0F-FB11-30B0-37C9BB8B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CDC8D5-36EA-60CE-BDDF-2316AB79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3477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935F626-18D9-9E70-BCCE-3C300A28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DE9E4D-5491-B7BB-F5F8-D8A8085D3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5BEF3-BB11-E72F-A25A-3CFA4148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2318B6-FA2D-C934-3BC0-286D6392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599B52-66FD-A619-5C68-17D9A472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315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F35BB28-EA87-9943-C46F-32FDE80A9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418765-FADB-1689-A4F6-D097806A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8559D8-D231-A7BA-8D95-2FF0DDD25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2CDC8-9586-48B1-AC7D-AFC15B5CF085}" type="datetimeFigureOut">
              <a:rPr lang="fr-CH" smtClean="0"/>
              <a:t>15.05.2026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CC820A-024E-734B-5269-37A21EE8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159587-C563-148A-E929-5BBB6D8B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7924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code-assist-path:c:\Arduino\000_HeaterProject\005_ProjectRTOS\src\ProjectHeater.h" TargetMode="External"/><Relationship Id="rId2" Type="http://schemas.openxmlformats.org/officeDocument/2006/relationships/hyperlink" Target="code-assist-path:c:\Arduino\000_HeaterProject\005_ProjectRTOS\src\DataToCloud.cp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code-assist-path:c:\Arduino\000_HeaterProject\005_ProjectRTOS\BoilerServerOnRTOS\public\index.html" TargetMode="External"/><Relationship Id="rId5" Type="http://schemas.openxmlformats.org/officeDocument/2006/relationships/hyperlink" Target="code-assist-path:c:\Arduino\000_HeaterProject\005_ProjectRTOS\BoilerServerOnRTOS\index.js" TargetMode="External"/><Relationship Id="rId4" Type="http://schemas.openxmlformats.org/officeDocument/2006/relationships/hyperlink" Target="code-assist-path:c:\Arduino\000_HeaterProject\005_ProjectRTOS\src\main.cpp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code-assist-path:c:\Arduino\000_HeaterProject\005_ProjectRTOS\BoilerServerOnRTOS\index.js" TargetMode="External"/><Relationship Id="rId2" Type="http://schemas.openxmlformats.org/officeDocument/2006/relationships/hyperlink" Target="code-assist-path:c:\Arduino\000_HeaterProject\005_ProjectRTOS\BoilerServerOnRTOS\public\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code-assist-path:c:\Arduino\000_HeaterProject\005_ProjectRTOS\src\DataToCloud.cpp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985C3-8A60-6933-D56D-E11F4506D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H" sz="7200" b="1" dirty="0" err="1"/>
              <a:t>HiveMQ</a:t>
            </a:r>
            <a:r>
              <a:rPr lang="fr-CH" sz="7200" b="1" dirty="0"/>
              <a:t> Cloud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1AEE72-9B4D-FBD5-C365-1B99877BD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H" sz="3600" b="1" dirty="0"/>
              <a:t>Arduino </a:t>
            </a:r>
            <a:r>
              <a:rPr lang="fr-CH" sz="3600" b="1" dirty="0" err="1"/>
              <a:t>Uno</a:t>
            </a:r>
            <a:r>
              <a:rPr lang="fr-CH" sz="3600" b="1" dirty="0"/>
              <a:t> R4 Wifi</a:t>
            </a:r>
          </a:p>
        </p:txBody>
      </p:sp>
    </p:spTree>
    <p:extLst>
      <p:ext uri="{BB962C8B-B14F-4D97-AF65-F5344CB8AC3E}">
        <p14:creationId xmlns:p14="http://schemas.microsoft.com/office/powerpoint/2010/main" val="393640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09E406-F6C8-F965-591B-4F36AC97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High-Level System 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C76A03-B2C3-0290-3CCC-CF1710894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1825625"/>
            <a:ext cx="459105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The "Cloud-to-Hardware" Ecosystem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slide illustrates the structural layout of the project, showing how the local hardware interacts with the global cloud and the end-user dashboard.</a:t>
            </a:r>
          </a:p>
          <a:p>
            <a:r>
              <a:rPr lang="en-US" b="1" dirty="0"/>
              <a:t>Edge Layer:</a:t>
            </a:r>
            <a:r>
              <a:rPr lang="en-US" dirty="0"/>
              <a:t> Arduino Uno R4 Wi-Fi handling real-time sensor data and heater PWM control.</a:t>
            </a:r>
          </a:p>
          <a:p>
            <a:r>
              <a:rPr lang="en-US" b="1" dirty="0"/>
              <a:t>Orchestration Layer:</a:t>
            </a:r>
            <a:r>
              <a:rPr lang="en-US" dirty="0"/>
              <a:t> </a:t>
            </a:r>
            <a:r>
              <a:rPr lang="en-US" dirty="0" err="1"/>
              <a:t>HiveMQ</a:t>
            </a:r>
            <a:r>
              <a:rPr lang="en-US" dirty="0"/>
              <a:t> Cloud (MQTT Broker) acting as the secure message relay.</a:t>
            </a:r>
          </a:p>
          <a:p>
            <a:r>
              <a:rPr lang="en-US" b="1" dirty="0"/>
              <a:t>Application Layer:</a:t>
            </a:r>
            <a:r>
              <a:rPr lang="en-US" dirty="0"/>
              <a:t> Node.js Backend managing data persistence and serving the Web Dashboard via </a:t>
            </a:r>
            <a:r>
              <a:rPr lang="en-US" dirty="0" err="1"/>
              <a:t>WebSockets</a:t>
            </a:r>
            <a:r>
              <a:rPr lang="en-US" dirty="0"/>
              <a:t> (Socket.io).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DC20E9-9CE0-D426-F877-65A30DF86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682" y="1825625"/>
            <a:ext cx="6950239" cy="379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7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2DEC3-1220-A5D4-0F19-BD692EE0C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Communication &amp; Data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964313-A112-014E-44C9-64513DB322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600" y="1762222"/>
            <a:ext cx="566420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"Digital 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Plumbing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slide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focuses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the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protocols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move data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across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Telemetry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Upstream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Arduino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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MQTT (TLS 8883) </a:t>
            </a:r>
            <a:b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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Node.js.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Command (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Downstream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User UI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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Socket.io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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Node.js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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MQTT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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Arduino.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Security: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Static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Environment-based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Auth 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Certificate-based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communication for the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HiveMQ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link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4482EF7-1EA6-FD47-1C3A-724A4A83F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598" y="2139950"/>
            <a:ext cx="6214502" cy="339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5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61C4E-4CC4-34FE-208D-08D934A6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The </a:t>
            </a:r>
            <a:r>
              <a:rPr lang="fr-CH" dirty="0" err="1"/>
              <a:t>Safety</a:t>
            </a:r>
            <a:r>
              <a:rPr lang="fr-CH" dirty="0"/>
              <a:t> &amp; Fail-Safe Layer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506FB6-4AC4-01A5-D24C-E0713E389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825625"/>
            <a:ext cx="56642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Hardware Integrity &amp; Professional Engineering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Safety is the priority. This slide highlights the three-pillar protection strategy implemented in the C++ firmware.</a:t>
            </a:r>
          </a:p>
          <a:p>
            <a:r>
              <a:rPr lang="en-US" b="1" dirty="0"/>
              <a:t>Watchdog Timer (WDT):</a:t>
            </a:r>
            <a:r>
              <a:rPr lang="en-US" dirty="0"/>
              <a:t> Hardware-level reset if the code hangs.</a:t>
            </a:r>
          </a:p>
          <a:p>
            <a:r>
              <a:rPr lang="en-US" b="1" dirty="0"/>
              <a:t>Sensor Sanity:</a:t>
            </a:r>
            <a:r>
              <a:rPr lang="en-US" dirty="0"/>
              <a:t> Immediate shutdown if temperature values are physically impossible (cut wires/shorts).</a:t>
            </a:r>
          </a:p>
          <a:p>
            <a:r>
              <a:rPr lang="en-US" b="1" dirty="0"/>
              <a:t>SAFE_STATE:</a:t>
            </a:r>
            <a:r>
              <a:rPr lang="en-US" dirty="0"/>
              <a:t> A predefined mode where all heating elements are physically disconnected/powered down.</a:t>
            </a:r>
          </a:p>
          <a:p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FC09B2-EAE0-A5F4-4FE0-4B5951835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88" y="2057400"/>
            <a:ext cx="6066193" cy="331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1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83764-B1C0-1124-4B25-04E5E004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System Connection </a:t>
            </a:r>
            <a:r>
              <a:rPr lang="fr-CH" dirty="0" err="1"/>
              <a:t>Status</a:t>
            </a:r>
            <a:r>
              <a:rPr lang="fr-CH" dirty="0"/>
              <a:t> Check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8E0CB414-F88B-EC1D-528B-DB59B1E6D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134554"/>
              </p:ext>
            </p:extLst>
          </p:nvPr>
        </p:nvGraphicFramePr>
        <p:xfrm>
          <a:off x="285750" y="1540034"/>
          <a:ext cx="5149852" cy="4815840"/>
        </p:xfrm>
        <a:graphic>
          <a:graphicData uri="http://schemas.openxmlformats.org/drawingml/2006/table">
            <a:tbl>
              <a:tblPr/>
              <a:tblGrid>
                <a:gridCol w="1287463">
                  <a:extLst>
                    <a:ext uri="{9D8B030D-6E8A-4147-A177-3AD203B41FA5}">
                      <a16:colId xmlns:a16="http://schemas.microsoft.com/office/drawing/2014/main" val="2481920326"/>
                    </a:ext>
                  </a:extLst>
                </a:gridCol>
                <a:gridCol w="1287463">
                  <a:extLst>
                    <a:ext uri="{9D8B030D-6E8A-4147-A177-3AD203B41FA5}">
                      <a16:colId xmlns:a16="http://schemas.microsoft.com/office/drawing/2014/main" val="156534571"/>
                    </a:ext>
                  </a:extLst>
                </a:gridCol>
                <a:gridCol w="1287463">
                  <a:extLst>
                    <a:ext uri="{9D8B030D-6E8A-4147-A177-3AD203B41FA5}">
                      <a16:colId xmlns:a16="http://schemas.microsoft.com/office/drawing/2014/main" val="1390854137"/>
                    </a:ext>
                  </a:extLst>
                </a:gridCol>
                <a:gridCol w="1287463">
                  <a:extLst>
                    <a:ext uri="{9D8B030D-6E8A-4147-A177-3AD203B41FA5}">
                      <a16:colId xmlns:a16="http://schemas.microsoft.com/office/drawing/2014/main" val="3406391182"/>
                    </a:ext>
                  </a:extLst>
                </a:gridCol>
              </a:tblGrid>
              <a:tr h="7229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Link Name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Connection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Who Monitors It?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 Used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703625"/>
                  </a:ext>
                </a:extLst>
              </a:tr>
              <a:tr h="908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Cloud Link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Arduino </a:t>
                      </a:r>
                      <a:r>
                        <a:rPr lang="fr-CH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fr-CH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HiveMQ</a:t>
                      </a:r>
                      <a:endParaRPr lang="fr-CH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Arduino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mqttClient.connected()</a:t>
                      </a:r>
                      <a:r>
                        <a:rPr lang="fr-CH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returns </a:t>
                      </a:r>
                      <a:r>
                        <a:rPr lang="fr-CH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false</a:t>
                      </a:r>
                      <a:r>
                        <a:rPr lang="fr-CH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98463"/>
                  </a:ext>
                </a:extLst>
              </a:tr>
              <a:tr h="8850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Bridge Link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Node.js </a:t>
                      </a:r>
                      <a:r>
                        <a:rPr lang="fr-CH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fr-CH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HiveMQ</a:t>
                      </a:r>
                      <a:endParaRPr lang="fr-CH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Node.js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client.on('offline')</a:t>
                      </a:r>
                      <a:r>
                        <a:rPr lang="fr-CH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event fires.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892386"/>
                  </a:ext>
                </a:extLst>
              </a:tr>
              <a:tr h="9088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Link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Browser </a:t>
                      </a:r>
                      <a:r>
                        <a:rPr lang="fr-CH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fr-CH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Node.js</a:t>
                      </a:r>
                      <a:endParaRPr lang="fr-CH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Browser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socket.on</a:t>
                      </a: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('disconnect')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event fires.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959042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C8BE8533-5363-DCF6-8EE8-359C371DB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354" y="2241550"/>
            <a:ext cx="6098181" cy="33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65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FD286A-5660-4084-6A84-F3F0B58F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Goal:</a:t>
            </a:r>
            <a:r>
              <a:rPr lang="en-US" dirty="0"/>
              <a:t> Establish a stable, zero-cost bridge between the Arduino R4 and your Node.js server.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EC93EB-495B-A259-0EE2-0677E94ED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10515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Protocol: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MQTT (Message Queuing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Telemetry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Transport).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Platform: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Cloud (Free Tier - up to 100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devices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TLS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encryption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(Port 8883)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Username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Password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instead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complex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X.509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certificates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Benefit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Zero-footprint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R4 memory,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faster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handshake, and no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billing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64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E7B82-E8CE-1087-63DF-BB859BA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"Envelope" Method:</a:t>
            </a:r>
            <a:r>
              <a:rPr lang="en-US" dirty="0"/>
              <a:t> Instead of 20 separate messages, we will use </a:t>
            </a:r>
            <a:r>
              <a:rPr lang="en-US" b="1" dirty="0"/>
              <a:t>JSON</a:t>
            </a:r>
            <a:r>
              <a:rPr lang="en-US" dirty="0"/>
              <a:t>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6C0ED6-EFAC-63DC-C0D4-D11C47086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10591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Payload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single JSON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 20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Topic Structure: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boiler/main/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status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</a:t>
            </a: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Payload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{"temp": 72.5, "pressure": 1.2, "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relay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":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true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"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target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": 75.0, ...}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Efficiency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Reduces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WiFi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"on-time" and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prevents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Arduino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hanging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during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transmission.</a:t>
            </a:r>
          </a:p>
        </p:txBody>
      </p:sp>
    </p:spTree>
    <p:extLst>
      <p:ext uri="{BB962C8B-B14F-4D97-AF65-F5344CB8AC3E}">
        <p14:creationId xmlns:p14="http://schemas.microsoft.com/office/powerpoint/2010/main" val="69668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2845C-4964-82C4-FA15-496AB9D3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Responsibility:</a:t>
            </a:r>
            <a:r>
              <a:rPr lang="en-US" dirty="0"/>
              <a:t> Data collection and transmission.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BEBF8B-45A1-C0E5-2FF4-C7EDDB1CC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2"/>
            <a:ext cx="103830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Sample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sensors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/variables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30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Pack: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ArduinoJson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library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build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"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Envelope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Ship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via WiFiS3 and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ArduinoMqttClient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Safety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connection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fails, the Arduino continues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local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heater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safety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logic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independently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Asynchronous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4372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4D533-D40A-E950-C1BB-BBD6BC5D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Responsibility:</a:t>
            </a:r>
            <a:r>
              <a:rPr lang="en-US" dirty="0"/>
              <a:t> Data processing and distribution.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E84882-69E1-3FC5-9F92-09C5991B1A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58"/>
            <a:ext cx="1091979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Listen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permanently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connected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via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mqtt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npm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package.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Unpack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Receive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JSON string and parse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back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into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JavaScript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Broadcast: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Socket.io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"push"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fresh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connected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HTML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dashboard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instantly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Optional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Save the data to a local file or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database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history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1956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90586-CC3F-8D77-7F8F-A6A3639F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b="1" dirty="0" err="1"/>
              <a:t>Responsibility</a:t>
            </a:r>
            <a:r>
              <a:rPr lang="fr-CH" b="1" dirty="0"/>
              <a:t>:</a:t>
            </a:r>
            <a:r>
              <a:rPr lang="fr-CH" dirty="0"/>
              <a:t> Real-time </a:t>
            </a:r>
            <a:r>
              <a:rPr lang="fr-CH" dirty="0" err="1"/>
              <a:t>visualization</a:t>
            </a:r>
            <a:r>
              <a:rPr lang="fr-CH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8A2114-BE22-9151-FDF9-99B9D4D872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54662"/>
            <a:ext cx="10333383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Socket Connection: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Open a "hotline"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your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local Node.js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Update: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When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message arrives, update the UI (gauges, charts, or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without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refreshing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User Input: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Send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"Target Temp" changes back up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chain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(HTML $\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Node.js $\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$\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Arduino).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16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288F9A-93F2-63F2-FC96-7DF8BDEBA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1999" cy="69673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Master Roadmap: From Arduino to Desktop App</a:t>
            </a:r>
          </a:p>
          <a:p>
            <a:pPr marL="0" indent="0">
              <a:buNone/>
            </a:pPr>
            <a:r>
              <a:rPr lang="en-US" b="1" dirty="0"/>
              <a:t>Phase 1: The Cloud "Switchboard" (</a:t>
            </a:r>
            <a:r>
              <a:rPr lang="en-US" b="1" dirty="0" err="1"/>
              <a:t>HiveMQ</a:t>
            </a:r>
            <a:r>
              <a:rPr lang="en-US" b="1" dirty="0"/>
              <a:t>)</a:t>
            </a:r>
          </a:p>
          <a:p>
            <a:pPr marL="457200" lvl="1" indent="0">
              <a:buNone/>
            </a:pPr>
            <a:r>
              <a:rPr lang="en-US" b="1" dirty="0"/>
              <a:t>Step 1:</a:t>
            </a:r>
            <a:r>
              <a:rPr lang="en-US" dirty="0"/>
              <a:t> Create the </a:t>
            </a:r>
            <a:r>
              <a:rPr lang="en-US" dirty="0" err="1"/>
              <a:t>HiveMQ</a:t>
            </a:r>
            <a:r>
              <a:rPr lang="en-US" dirty="0"/>
              <a:t> Free Cluster.</a:t>
            </a:r>
          </a:p>
          <a:p>
            <a:pPr marL="457200" lvl="1" indent="0">
              <a:buNone/>
            </a:pPr>
            <a:r>
              <a:rPr lang="en-US" b="1" dirty="0"/>
              <a:t>Step 2:</a:t>
            </a:r>
            <a:r>
              <a:rPr lang="en-US" dirty="0"/>
              <a:t> Define the </a:t>
            </a:r>
            <a:r>
              <a:rPr lang="en-US" b="1" dirty="0"/>
              <a:t>Multi-Boiler Topic Structure</a:t>
            </a:r>
            <a:r>
              <a:rPr lang="en-US" dirty="0"/>
              <a:t>: boilers/{{DEVICE_ID}}/status.</a:t>
            </a:r>
          </a:p>
          <a:p>
            <a:pPr marL="457200" lvl="1" indent="0">
              <a:buNone/>
            </a:pPr>
            <a:r>
              <a:rPr lang="en-US" b="1" dirty="0"/>
              <a:t>Step 3:</a:t>
            </a:r>
            <a:r>
              <a:rPr lang="en-US" dirty="0"/>
              <a:t> Generate secure credentials for the hardware and the server.</a:t>
            </a:r>
          </a:p>
          <a:p>
            <a:pPr marL="0" indent="0">
              <a:buNone/>
            </a:pPr>
            <a:r>
              <a:rPr lang="en-US" b="1" dirty="0"/>
              <a:t>Phase 2: The Hardware "Pulse" (Arduino R4)</a:t>
            </a:r>
          </a:p>
          <a:p>
            <a:pPr marL="457200" lvl="1" indent="0">
              <a:buNone/>
            </a:pPr>
            <a:r>
              <a:rPr lang="en-US" b="1" dirty="0"/>
              <a:t>Step 4:</a:t>
            </a:r>
            <a:r>
              <a:rPr lang="en-US" dirty="0"/>
              <a:t> Define a unique DEVICE_ID for each R4 (e.g., B1, B2).</a:t>
            </a:r>
          </a:p>
          <a:p>
            <a:pPr marL="457200" lvl="1" indent="0">
              <a:buNone/>
            </a:pPr>
            <a:r>
              <a:rPr lang="en-US" b="1" dirty="0"/>
              <a:t>Step 5:</a:t>
            </a:r>
            <a:r>
              <a:rPr lang="en-US" dirty="0"/>
              <a:t> Implement </a:t>
            </a:r>
            <a:r>
              <a:rPr lang="en-US" b="1" dirty="0"/>
              <a:t>JSON Bundling</a:t>
            </a:r>
            <a:r>
              <a:rPr lang="en-US" dirty="0"/>
              <a:t>: Pack all 20 variables into one message.</a:t>
            </a:r>
          </a:p>
          <a:p>
            <a:pPr marL="457200" lvl="1" indent="0">
              <a:buNone/>
            </a:pPr>
            <a:r>
              <a:rPr lang="en-US" b="1" dirty="0"/>
              <a:t>Step 6:</a:t>
            </a:r>
            <a:r>
              <a:rPr lang="en-US" dirty="0"/>
              <a:t> Asynchronous Publishing: Send data every 30 seconds without blocking the heater logic.</a:t>
            </a:r>
          </a:p>
          <a:p>
            <a:pPr marL="0" indent="0">
              <a:buNone/>
            </a:pPr>
            <a:r>
              <a:rPr lang="en-US" b="1" dirty="0"/>
              <a:t>Phase 3: The Local "Brain" (Node.js)</a:t>
            </a:r>
          </a:p>
          <a:p>
            <a:pPr marL="457200" lvl="1" indent="0">
              <a:buNone/>
            </a:pPr>
            <a:r>
              <a:rPr lang="en-US" b="1" dirty="0"/>
              <a:t>Step 7:</a:t>
            </a:r>
            <a:r>
              <a:rPr lang="en-US" dirty="0"/>
              <a:t> </a:t>
            </a:r>
            <a:r>
              <a:rPr lang="en-US" b="1" dirty="0"/>
              <a:t>The Wildcard Listener:</a:t>
            </a:r>
            <a:r>
              <a:rPr lang="en-US" dirty="0"/>
              <a:t> Set up Node.js to listen to boilers/+/status so it catches data from </a:t>
            </a:r>
            <a:r>
              <a:rPr lang="en-US" i="1" dirty="0"/>
              <a:t>all</a:t>
            </a:r>
            <a:r>
              <a:rPr lang="en-US" dirty="0"/>
              <a:t> connected boilers.</a:t>
            </a:r>
          </a:p>
          <a:p>
            <a:pPr marL="457200" lvl="1" indent="0">
              <a:buNone/>
            </a:pPr>
            <a:r>
              <a:rPr lang="en-US" b="1" dirty="0"/>
              <a:t>Step 8:</a:t>
            </a:r>
            <a:r>
              <a:rPr lang="en-US" dirty="0"/>
              <a:t> </a:t>
            </a:r>
            <a:r>
              <a:rPr lang="en-US" b="1" dirty="0"/>
              <a:t>Data Logging (Hard Drive):</a:t>
            </a:r>
            <a:r>
              <a:rPr lang="en-US" dirty="0"/>
              <a:t> Implement a local storage system (JSON or SQLite) to save every data point permanently to your laptop.</a:t>
            </a:r>
          </a:p>
          <a:p>
            <a:pPr marL="457200" lvl="1" indent="0">
              <a:buNone/>
            </a:pPr>
            <a:r>
              <a:rPr lang="en-US" b="1" dirty="0"/>
              <a:t>Step 9:</a:t>
            </a:r>
            <a:r>
              <a:rPr lang="en-US" dirty="0"/>
              <a:t> </a:t>
            </a:r>
            <a:r>
              <a:rPr lang="en-US" b="1" dirty="0"/>
              <a:t>Socket.io Bridge:</a:t>
            </a:r>
            <a:r>
              <a:rPr lang="en-US" dirty="0"/>
              <a:t> Stream the live data from Node.js to your HTML dashboard.</a:t>
            </a:r>
          </a:p>
          <a:p>
            <a:pPr marL="0" indent="0">
              <a:buNone/>
            </a:pPr>
            <a:r>
              <a:rPr lang="en-US" b="1" dirty="0"/>
              <a:t>Phase 4: The Final Product (The .exe Dashboard)</a:t>
            </a:r>
          </a:p>
          <a:p>
            <a:pPr marL="457200" lvl="1" indent="0">
              <a:buNone/>
            </a:pPr>
            <a:r>
              <a:rPr lang="en-US" b="1" dirty="0"/>
              <a:t>Step 10:</a:t>
            </a:r>
            <a:r>
              <a:rPr lang="en-US" dirty="0"/>
              <a:t> Build the </a:t>
            </a:r>
            <a:r>
              <a:rPr lang="en-US" b="1" dirty="0"/>
              <a:t>Multi-Card UI</a:t>
            </a:r>
            <a:r>
              <a:rPr lang="en-US" dirty="0"/>
              <a:t>: Design the dashboard to show a new status card automatically whenever a new Boiler ID appears.</a:t>
            </a:r>
          </a:p>
          <a:p>
            <a:pPr marL="457200" lvl="1" indent="0">
              <a:buNone/>
            </a:pPr>
            <a:r>
              <a:rPr lang="en-US" b="1" dirty="0"/>
              <a:t>Step 11:</a:t>
            </a:r>
            <a:r>
              <a:rPr lang="en-US" dirty="0"/>
              <a:t> </a:t>
            </a:r>
            <a:r>
              <a:rPr lang="en-US" b="1" dirty="0"/>
              <a:t>Electron Packaging:</a:t>
            </a:r>
            <a:r>
              <a:rPr lang="en-US" dirty="0"/>
              <a:t> Wrap the Node.js server and HTML into a portable .exe file.</a:t>
            </a:r>
          </a:p>
          <a:p>
            <a:pPr marL="457200" lvl="1" indent="0">
              <a:buNone/>
            </a:pPr>
            <a:r>
              <a:rPr lang="en-US" b="1" dirty="0"/>
              <a:t>Step 12:</a:t>
            </a:r>
            <a:r>
              <a:rPr lang="en-US" dirty="0"/>
              <a:t> Distribution: Test the .exe on a different computer/network to confirm it sees the boiler.</a:t>
            </a:r>
          </a:p>
        </p:txBody>
      </p:sp>
    </p:spTree>
    <p:extLst>
      <p:ext uri="{BB962C8B-B14F-4D97-AF65-F5344CB8AC3E}">
        <p14:creationId xmlns:p14="http://schemas.microsoft.com/office/powerpoint/2010/main" val="2524009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CFEC1A-8DB7-E99F-1774-D90EFCEA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Setting up </a:t>
            </a:r>
            <a:r>
              <a:rPr lang="fr-CH" dirty="0" err="1"/>
              <a:t>HiveQM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6E26DD-5FCC-B218-7ED2-46953839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62" y="1593632"/>
            <a:ext cx="4121426" cy="688975"/>
          </a:xfrm>
        </p:spPr>
        <p:txBody>
          <a:bodyPr>
            <a:normAutofit fontScale="85000" lnSpcReduction="20000"/>
          </a:bodyPr>
          <a:lstStyle/>
          <a:p>
            <a:r>
              <a:rPr lang="fr-CH" sz="1600" dirty="0" err="1"/>
              <a:t>Create</a:t>
            </a:r>
            <a:r>
              <a:rPr lang="fr-CH" sz="1600" dirty="0"/>
              <a:t> a </a:t>
            </a:r>
            <a:r>
              <a:rPr lang="fr-CH" sz="1600" dirty="0" err="1"/>
              <a:t>serverless</a:t>
            </a:r>
            <a:r>
              <a:rPr lang="fr-CH" sz="1600" dirty="0"/>
              <a:t> cluster </a:t>
            </a:r>
          </a:p>
          <a:p>
            <a:r>
              <a:rPr lang="pt-BR" sz="1600" dirty="0"/>
              <a:t>d72dc8b632b04c8c91c4702a5b164d59.s1.eu.hivemq.cloud: this is my link </a:t>
            </a:r>
            <a:endParaRPr lang="fr-CH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3B2D85-3236-8133-3CB6-AF5465CD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92"/>
          <a:stretch>
            <a:fillRect/>
          </a:stretch>
        </p:blipFill>
        <p:spPr>
          <a:xfrm>
            <a:off x="954569" y="2282607"/>
            <a:ext cx="4233657" cy="406849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FBA40BC-2765-FF30-4F0D-320B1F18DD41}"/>
              </a:ext>
            </a:extLst>
          </p:cNvPr>
          <p:cNvSpPr txBox="1"/>
          <p:nvPr/>
        </p:nvSpPr>
        <p:spPr>
          <a:xfrm>
            <a:off x="6616976" y="1088125"/>
            <a:ext cx="51509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1. The Standard URL &amp; Port (8883)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The "Professional Entrance."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Who uses it:</a:t>
            </a:r>
            <a:r>
              <a:rPr lang="en-US" sz="1400" dirty="0"/>
              <a:t> </a:t>
            </a:r>
            <a:r>
              <a:rPr lang="en-US" sz="1400" b="1" dirty="0"/>
              <a:t>Your Arduino R4.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Why:</a:t>
            </a:r>
            <a:r>
              <a:rPr lang="en-US" sz="1400" dirty="0"/>
              <a:t> Port </a:t>
            </a:r>
            <a:r>
              <a:rPr lang="en-US" sz="1400" b="1" dirty="0"/>
              <a:t>8883</a:t>
            </a:r>
            <a:r>
              <a:rPr lang="en-US" sz="1400" dirty="0"/>
              <a:t> is the industry standard for </a:t>
            </a:r>
            <a:r>
              <a:rPr lang="en-US" sz="1400" b="1" dirty="0"/>
              <a:t>Secure MQTT</a:t>
            </a:r>
            <a:r>
              <a:rPr lang="en-US" sz="1400" dirty="0"/>
              <a:t>. It uses </a:t>
            </a:r>
            <a:r>
              <a:rPr lang="en-US" sz="1400" b="1" dirty="0"/>
              <a:t>TLS (Transport Layer Security)</a:t>
            </a:r>
            <a:r>
              <a:rPr lang="en-US" sz="1400" dirty="0"/>
              <a:t>, which is the same encryption banks use. Since your Arduino is a dedicated hardware device, it speaks the "pure" MQTT language directly.</a:t>
            </a:r>
          </a:p>
          <a:p>
            <a:pPr>
              <a:buNone/>
            </a:pPr>
            <a:r>
              <a:rPr lang="en-US" sz="1400" b="1" dirty="0"/>
              <a:t>2. WebSocket Port (8884)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The "Web Entrance."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Who uses it:</a:t>
            </a:r>
            <a:r>
              <a:rPr lang="en-US" sz="1400" dirty="0"/>
              <a:t> </a:t>
            </a:r>
            <a:r>
              <a:rPr lang="en-US" sz="1400" b="1" dirty="0"/>
              <a:t>Your Browser / Dashboard.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Why:</a:t>
            </a:r>
            <a:r>
              <a:rPr lang="en-US" sz="1400" dirty="0"/>
              <a:t> Standard browsers (like Chrome or Safari) are "allergic" to pure MQTT; they only like to speak Web languages. The WebSocket port wraps the MQTT data inside a web-friendly package. You’ll use this when you want your HTML page to show live data without going through a server.</a:t>
            </a:r>
          </a:p>
          <a:p>
            <a:pPr>
              <a:buNone/>
            </a:pPr>
            <a:r>
              <a:rPr lang="en-US" sz="1400" b="1" dirty="0"/>
              <a:t>3. TLS MQTT 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Just a combined version of #1.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Note:</a:t>
            </a:r>
            <a:r>
              <a:rPr lang="en-US" sz="1400" dirty="0"/>
              <a:t> It’s exactly the same as the first URL, just with :8883 added to the end. Most code libraries ask for the "Host" and the "Port" separately, but some want the whole string.</a:t>
            </a:r>
          </a:p>
          <a:p>
            <a:pPr>
              <a:buNone/>
            </a:pPr>
            <a:r>
              <a:rPr lang="en-US" sz="1400" b="1" dirty="0"/>
              <a:t>4. TLS WebSocket 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The full address for web-based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Note:</a:t>
            </a:r>
            <a:r>
              <a:rPr lang="en-US" sz="1400" dirty="0"/>
              <a:t> Notice the /</a:t>
            </a:r>
            <a:r>
              <a:rPr lang="en-US" sz="1400" dirty="0" err="1"/>
              <a:t>mqtt</a:t>
            </a:r>
            <a:r>
              <a:rPr lang="en-US" sz="1400" dirty="0"/>
              <a:t> at the end. This is the specific "path" a website follows to find the data stream.</a:t>
            </a:r>
          </a:p>
        </p:txBody>
      </p:sp>
    </p:spTree>
    <p:extLst>
      <p:ext uri="{BB962C8B-B14F-4D97-AF65-F5344CB8AC3E}">
        <p14:creationId xmlns:p14="http://schemas.microsoft.com/office/powerpoint/2010/main" val="64089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79F86-65E7-0FEF-5CB0-145BCF63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26" y="0"/>
            <a:ext cx="10515600" cy="519458"/>
          </a:xfrm>
        </p:spPr>
        <p:txBody>
          <a:bodyPr>
            <a:normAutofit fontScale="90000"/>
          </a:bodyPr>
          <a:lstStyle/>
          <a:p>
            <a:r>
              <a:rPr lang="fr-CH" dirty="0"/>
              <a:t>SSL client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3F8449-D990-6235-DB81-2DFC9BDBF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22" y="596348"/>
            <a:ext cx="11506200" cy="6142382"/>
          </a:xfrm>
        </p:spPr>
        <p:txBody>
          <a:bodyPr>
            <a:normAutofit lnSpcReduction="10000"/>
          </a:bodyPr>
          <a:lstStyle/>
          <a:p>
            <a:r>
              <a:rPr lang="en-US" sz="1050" dirty="0"/>
              <a:t>An </a:t>
            </a:r>
            <a:r>
              <a:rPr lang="en-US" sz="1050" b="1" dirty="0"/>
              <a:t>SSL </a:t>
            </a:r>
            <a:r>
              <a:rPr lang="en-US" sz="1050" b="1" dirty="0" err="1"/>
              <a:t>WiFi</a:t>
            </a:r>
            <a:r>
              <a:rPr lang="en-US" sz="1050" b="1" dirty="0"/>
              <a:t> Client</a:t>
            </a:r>
            <a:r>
              <a:rPr lang="en-US" sz="1050" dirty="0"/>
              <a:t> (like the </a:t>
            </a:r>
            <a:r>
              <a:rPr lang="en-US" sz="1050" dirty="0" err="1"/>
              <a:t>WiFiSSLClient</a:t>
            </a:r>
            <a:r>
              <a:rPr lang="en-US" sz="1050" dirty="0"/>
              <a:t> you used in your code) is a specialized tool that allows your Arduino to communicate with the internet using </a:t>
            </a:r>
            <a:r>
              <a:rPr lang="en-US" sz="1050" b="1" dirty="0"/>
              <a:t>encryption</a:t>
            </a:r>
            <a:r>
              <a:rPr lang="en-US" sz="1050" dirty="0"/>
              <a:t>.</a:t>
            </a:r>
          </a:p>
          <a:p>
            <a:r>
              <a:rPr lang="en-US" sz="1050" dirty="0"/>
              <a:t>In your project, when you connect to </a:t>
            </a:r>
            <a:r>
              <a:rPr lang="en-US" sz="1050" b="1" dirty="0" err="1"/>
              <a:t>HiveMQ</a:t>
            </a:r>
            <a:r>
              <a:rPr lang="en-US" sz="1050" b="1" dirty="0"/>
              <a:t> Cloud</a:t>
            </a:r>
            <a:r>
              <a:rPr lang="en-US" sz="1050" dirty="0"/>
              <a:t>, you are sending data over the public internet. Without SSL, anyone sitting between your router and the cloud could "sniff" your </a:t>
            </a:r>
            <a:r>
              <a:rPr lang="en-US" sz="1050" dirty="0" err="1"/>
              <a:t>WiFi</a:t>
            </a:r>
            <a:r>
              <a:rPr lang="en-US" sz="1050" dirty="0"/>
              <a:t> password or your boiler's temperature data. SSL prevents this.</a:t>
            </a:r>
          </a:p>
          <a:p>
            <a:r>
              <a:rPr lang="en-US" sz="1050" b="1" dirty="0"/>
              <a:t>How it Works (The "Secret Handshake")</a:t>
            </a:r>
          </a:p>
          <a:p>
            <a:r>
              <a:rPr lang="en-US" sz="1050" dirty="0"/>
              <a:t>Think of a standard WiFiClient as sending a postcard—anyone can read it. A </a:t>
            </a:r>
            <a:r>
              <a:rPr lang="en-US" sz="1050" dirty="0" err="1"/>
              <a:t>WiFiSSLClient</a:t>
            </a:r>
            <a:r>
              <a:rPr lang="en-US" sz="1050" dirty="0"/>
              <a:t> is like sending a locked safe that only the recipient can open.</a:t>
            </a:r>
          </a:p>
          <a:p>
            <a:r>
              <a:rPr lang="en-US" sz="1050" b="1" dirty="0"/>
              <a:t>The Handshake:</a:t>
            </a:r>
            <a:r>
              <a:rPr lang="en-US" sz="1050" dirty="0"/>
              <a:t> When your Arduino starts the connection, it asks the server for a </a:t>
            </a:r>
            <a:r>
              <a:rPr lang="en-US" sz="1050" b="1" dirty="0"/>
              <a:t>Certificate</a:t>
            </a:r>
            <a:r>
              <a:rPr lang="en-US" sz="1050" dirty="0"/>
              <a:t>.</a:t>
            </a:r>
          </a:p>
          <a:p>
            <a:r>
              <a:rPr lang="en-US" sz="1050" b="1" dirty="0"/>
              <a:t>Verification:</a:t>
            </a:r>
            <a:r>
              <a:rPr lang="en-US" sz="1050" dirty="0"/>
              <a:t> The Arduino checks this certificate to ensure it’s actually talking to </a:t>
            </a:r>
            <a:r>
              <a:rPr lang="en-US" sz="1050" dirty="0" err="1"/>
              <a:t>HiveMQ</a:t>
            </a:r>
            <a:r>
              <a:rPr lang="en-US" sz="1050" dirty="0"/>
              <a:t> and not a hacker.</a:t>
            </a:r>
          </a:p>
          <a:p>
            <a:r>
              <a:rPr lang="en-US" sz="1050" b="1" dirty="0"/>
              <a:t>Encryption:</a:t>
            </a:r>
            <a:r>
              <a:rPr lang="en-US" sz="1050" dirty="0"/>
              <a:t> They agree on a "secret key." All data sent after this point is scrambled into unreadable gibberish.</a:t>
            </a:r>
          </a:p>
          <a:p>
            <a:r>
              <a:rPr lang="en-US" sz="1050" b="1" dirty="0"/>
              <a:t>Decryption:</a:t>
            </a:r>
            <a:r>
              <a:rPr lang="en-US" sz="1050" dirty="0"/>
              <a:t> The server uses its key to turn that gibberish back into your JSON data</a:t>
            </a:r>
            <a:br>
              <a:rPr lang="en-US" sz="1050" dirty="0"/>
            </a:br>
            <a:endParaRPr lang="en-US" sz="1050" dirty="0"/>
          </a:p>
          <a:p>
            <a:r>
              <a:rPr lang="en-US" sz="1050" b="1" dirty="0"/>
              <a:t>Why the Uno R4 handles this differently</a:t>
            </a:r>
          </a:p>
          <a:p>
            <a:r>
              <a:rPr lang="en-US" sz="1050" dirty="0"/>
              <a:t>On older Arduinos (like the Uno R3), SSL was almost impossible because it requires a lot of math and memory (RAM). The </a:t>
            </a:r>
            <a:r>
              <a:rPr lang="en-US" sz="1050" b="1" dirty="0"/>
              <a:t>Uno R4 </a:t>
            </a:r>
            <a:r>
              <a:rPr lang="en-US" sz="1050" b="1" dirty="0" err="1"/>
              <a:t>WiFi</a:t>
            </a:r>
            <a:r>
              <a:rPr lang="en-US" sz="1050" dirty="0"/>
              <a:t> is special because it has two processors:</a:t>
            </a:r>
          </a:p>
          <a:p>
            <a:r>
              <a:rPr lang="en-US" sz="1050" b="1" dirty="0"/>
              <a:t>The Renesas RA4M1:</a:t>
            </a:r>
            <a:r>
              <a:rPr lang="en-US" sz="1050" dirty="0"/>
              <a:t> This runs your actual Arduino code (your loop and setup).</a:t>
            </a:r>
          </a:p>
          <a:p>
            <a:r>
              <a:rPr lang="en-US" sz="1050" b="1" dirty="0"/>
              <a:t>The ESP32-S3:</a:t>
            </a:r>
            <a:r>
              <a:rPr lang="en-US" sz="1050" dirty="0"/>
              <a:t> This is a separate "co-processor" dedicated to </a:t>
            </a:r>
            <a:r>
              <a:rPr lang="en-US" sz="1050" dirty="0" err="1"/>
              <a:t>WiFi</a:t>
            </a:r>
            <a:r>
              <a:rPr lang="en-US" sz="1050" dirty="0"/>
              <a:t> and Bluetooth.</a:t>
            </a:r>
          </a:p>
          <a:p>
            <a:r>
              <a:rPr lang="en-US" sz="1050" dirty="0"/>
              <a:t>When you use </a:t>
            </a:r>
            <a:r>
              <a:rPr lang="en-US" sz="1050" dirty="0" err="1"/>
              <a:t>WiFiSSLClient</a:t>
            </a:r>
            <a:r>
              <a:rPr lang="en-US" sz="1050" dirty="0"/>
              <a:t>, your main code tells the ESP32: </a:t>
            </a:r>
            <a:r>
              <a:rPr lang="en-US" sz="1050" i="1" dirty="0"/>
              <a:t>"Hey, I need a secure tunnel to this address."</a:t>
            </a:r>
            <a:r>
              <a:rPr lang="en-US" sz="1050" dirty="0"/>
              <a:t> The ESP32 does all the heavy mathematical lifting of the encryption so the main processor can focus on your heater logic.</a:t>
            </a:r>
            <a:br>
              <a:rPr lang="en-US" sz="1050" dirty="0"/>
            </a:br>
            <a:endParaRPr lang="en-US" sz="1050" dirty="0"/>
          </a:p>
          <a:p>
            <a:r>
              <a:rPr lang="en-US" sz="1050" b="1" dirty="0"/>
              <a:t>Important SSL Parameters in your Project</a:t>
            </a:r>
          </a:p>
          <a:p>
            <a:r>
              <a:rPr lang="en-US" sz="1050" b="1" dirty="0"/>
              <a:t>Port 8883:</a:t>
            </a:r>
            <a:r>
              <a:rPr lang="en-US" sz="1050" dirty="0"/>
              <a:t> This is the standard port for </a:t>
            </a:r>
            <a:r>
              <a:rPr lang="en-US" sz="1050" b="1" dirty="0"/>
              <a:t>Secure MQTT</a:t>
            </a:r>
            <a:r>
              <a:rPr lang="en-US" sz="1050" dirty="0"/>
              <a:t>. If you were not using SSL, you would typically use port 1883.</a:t>
            </a:r>
          </a:p>
          <a:p>
            <a:r>
              <a:rPr lang="en-US" sz="1050" b="1" dirty="0"/>
              <a:t>Overhead:</a:t>
            </a:r>
            <a:r>
              <a:rPr lang="en-US" sz="1050" dirty="0"/>
              <a:t> Because of the encryption math, SSL messages are slightly larger than "Plaintext" messages. This is why connecting sometimes takes 1–3 seconds longer than a normal connection—the "Handshake" takes time.</a:t>
            </a:r>
          </a:p>
          <a:p>
            <a:r>
              <a:rPr lang="en-US" sz="1050" b="1" dirty="0"/>
              <a:t>Root Certificates:</a:t>
            </a:r>
            <a:r>
              <a:rPr lang="en-US" sz="1050" dirty="0"/>
              <a:t> Sometimes, the Arduino needs a "Root CA" (a master key) to trust the server. The Uno R4 usually handles this automatically through its firmware, but for high-security industrial systems, you sometimes have to manually "flash" these certificates to the </a:t>
            </a:r>
            <a:r>
              <a:rPr lang="en-US" sz="1050" dirty="0" err="1"/>
              <a:t>WiFi</a:t>
            </a:r>
            <a:r>
              <a:rPr lang="en-US" sz="1050" dirty="0"/>
              <a:t> module.</a:t>
            </a:r>
            <a:br>
              <a:rPr lang="en-US" sz="1050" dirty="0"/>
            </a:br>
            <a:endParaRPr lang="en-US" sz="1050" dirty="0"/>
          </a:p>
          <a:p>
            <a:r>
              <a:rPr lang="en-US" sz="1050" b="1" dirty="0"/>
              <a:t>Is it necessary?</a:t>
            </a:r>
          </a:p>
          <a:p>
            <a:r>
              <a:rPr lang="en-US" sz="1050" dirty="0"/>
              <a:t>For a </a:t>
            </a:r>
            <a:r>
              <a:rPr lang="en-US" sz="1050" b="1" dirty="0"/>
              <a:t>Heater Project</a:t>
            </a:r>
            <a:r>
              <a:rPr lang="en-US" sz="1050" dirty="0"/>
              <a:t>, absolutely. If someone were to intercept your MQTT messages and send a fake command to your boiler, they could potentially cause physical damage. SSL ensures that the only person controlling that heater is </a:t>
            </a:r>
            <a:r>
              <a:rPr lang="en-US" sz="1050" b="1" dirty="0"/>
              <a:t>you</a:t>
            </a:r>
            <a:r>
              <a:rPr lang="en-US" sz="1050" dirty="0"/>
              <a:t> (or your server).</a:t>
            </a:r>
          </a:p>
          <a:p>
            <a:endParaRPr lang="fr-CH" sz="1050" dirty="0"/>
          </a:p>
        </p:txBody>
      </p:sp>
    </p:spTree>
    <p:extLst>
      <p:ext uri="{BB962C8B-B14F-4D97-AF65-F5344CB8AC3E}">
        <p14:creationId xmlns:p14="http://schemas.microsoft.com/office/powerpoint/2010/main" val="81186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4227F7-1B82-48AF-B06E-E0E7CC4D6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Internet layer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3FB054-AC0F-B9D8-FDC7-6FBCAFF6F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662466"/>
            <a:ext cx="1084027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 (The "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—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boiler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SSL/TLS: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 (The "how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— the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 (The "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—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arrives in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 (The "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—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getting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data to the right server).</a:t>
            </a:r>
          </a:p>
        </p:txBody>
      </p:sp>
    </p:spTree>
    <p:extLst>
      <p:ext uri="{BB962C8B-B14F-4D97-AF65-F5344CB8AC3E}">
        <p14:creationId xmlns:p14="http://schemas.microsoft.com/office/powerpoint/2010/main" val="2788996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33F1E0-66DF-BBAD-61A0-34318BC2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Internet </a:t>
            </a:r>
            <a:r>
              <a:rPr lang="fr-CH" dirty="0" err="1"/>
              <a:t>Protocols</a:t>
            </a:r>
            <a:r>
              <a:rPr lang="fr-CH" dirty="0"/>
              <a:t>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8DBB04D-9A65-EC8C-99E7-EB477329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695455"/>
              </p:ext>
            </p:extLst>
          </p:nvPr>
        </p:nvGraphicFramePr>
        <p:xfrm>
          <a:off x="838200" y="1732374"/>
          <a:ext cx="10515600" cy="4356303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837364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22525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378330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7536138"/>
                    </a:ext>
                  </a:extLst>
                </a:gridCol>
              </a:tblGrid>
              <a:tr h="31477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HTTP (REST)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WebSockets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MQTT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01981"/>
                  </a:ext>
                </a:extLst>
              </a:tr>
              <a:tr h="4814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Request/Response</a:t>
                      </a:r>
                      <a:r>
                        <a:rPr lang="fr-CH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(Client asks, Server answers)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Full-Duplex</a:t>
                      </a:r>
                      <a:r>
                        <a:rPr lang="fr-CH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(Continuous bi-directional stream)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Pub/Sub</a:t>
                      </a:r>
                      <a:r>
                        <a:rPr lang="fr-CH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(Broker-mediated messaging)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905167"/>
                  </a:ext>
                </a:extLst>
              </a:tr>
              <a:tr h="4814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Connection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Ephemeral: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Opens, sends data, closes.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Persistent: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Keeps a single socket open.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Persistent: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Keeps a "Keep-Alive" session.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93761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Header Size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Large:</a:t>
                      </a:r>
                      <a:r>
                        <a:rPr lang="fr-CH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(800+ bytes) Includes cookies, browser info, etc.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(Small overhead after initial handshake).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Tiny: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(As small as 2 bytes).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92637"/>
                  </a:ext>
                </a:extLst>
              </a:tr>
              <a:tr h="4814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Power/Data Consumption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Heavy for battery-powered devices.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Medium:</a:t>
                      </a:r>
                      <a:r>
                        <a:rPr lang="fr-CH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Better for constant data.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Very Low: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Optimized for "Low-Bandwidth" IoT.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91638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Speed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Slow: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Latency due to opening/closing connections.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Fastest: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Immediate delivery in both directions.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Fast: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Highly efficient for "push" notifications.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667932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Complexity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Simple (Most common protocol).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(Requires handling stateful connections).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Moderate (Requires an external Broker like HiveMQ).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518948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Use Case</a:t>
                      </a:r>
                      <a:endParaRPr lang="fr-CH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Fetching a webpage or checking a weather API.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chat apps or live stock market tickers.</a:t>
                      </a: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IoT Sensors, Hardware Control, &amp; Home Automation.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74065" marB="7406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35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809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DB8DFC-73FE-7141-8FD7-642B23DE9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1. HTTP: The "On-Demand" Protocol</a:t>
            </a:r>
          </a:p>
          <a:p>
            <a:r>
              <a:rPr lang="en-US" dirty="0"/>
              <a:t>Think of HTTP like a </a:t>
            </a:r>
            <a:r>
              <a:rPr lang="en-US" b="1" dirty="0"/>
              <a:t>vending machine</a:t>
            </a:r>
            <a:r>
              <a:rPr lang="en-US" dirty="0"/>
              <a:t>. You walk up, put in a request, get your snack, and walk away.</a:t>
            </a:r>
          </a:p>
          <a:p>
            <a:r>
              <a:rPr lang="en-US" b="1" dirty="0"/>
              <a:t>Why it's bad for your heater:</a:t>
            </a:r>
            <a:r>
              <a:rPr lang="en-US" dirty="0"/>
              <a:t> If you want the heater to turn off </a:t>
            </a:r>
            <a:r>
              <a:rPr lang="en-US" i="1" dirty="0"/>
              <a:t>immediately</a:t>
            </a:r>
            <a:r>
              <a:rPr lang="en-US" dirty="0"/>
              <a:t> when a button is pressed on your phone, the Arduino would have to ask the server "Should I be off?" every single second (this is called </a:t>
            </a:r>
            <a:r>
              <a:rPr lang="en-US" b="1" dirty="0"/>
              <a:t>Polling</a:t>
            </a:r>
            <a:r>
              <a:rPr lang="en-US" dirty="0"/>
              <a:t>). It wastes a lot of energy and </a:t>
            </a:r>
            <a:r>
              <a:rPr lang="en-US" dirty="0" err="1"/>
              <a:t>WiFi</a:t>
            </a:r>
            <a:r>
              <a:rPr lang="en-US" dirty="0"/>
              <a:t> bandwidth.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2. </a:t>
            </a:r>
            <a:r>
              <a:rPr lang="en-US" b="1" dirty="0" err="1">
                <a:highlight>
                  <a:srgbClr val="FFFF00"/>
                </a:highlight>
              </a:rPr>
              <a:t>WebSockets</a:t>
            </a:r>
            <a:r>
              <a:rPr lang="en-US" b="1" dirty="0">
                <a:highlight>
                  <a:srgbClr val="FFFF00"/>
                </a:highlight>
              </a:rPr>
              <a:t>: The "Open Telephone Line"</a:t>
            </a:r>
          </a:p>
          <a:p>
            <a:r>
              <a:rPr lang="en-US" dirty="0" err="1"/>
              <a:t>WebSockets</a:t>
            </a:r>
            <a:r>
              <a:rPr lang="en-US" dirty="0"/>
              <a:t> are like a </a:t>
            </a:r>
            <a:r>
              <a:rPr lang="en-US" b="1" dirty="0"/>
              <a:t>phone call</a:t>
            </a:r>
            <a:r>
              <a:rPr lang="en-US" dirty="0"/>
              <a:t>. Once the call is connected, both people can talk at the exact same time without hanging up.</a:t>
            </a:r>
          </a:p>
          <a:p>
            <a:r>
              <a:rPr lang="en-US" b="1" dirty="0"/>
              <a:t>Why use it:</a:t>
            </a:r>
            <a:r>
              <a:rPr lang="en-US" dirty="0"/>
              <a:t> It’s great for high-speed dashboards where data is changing 60 times a second.</a:t>
            </a:r>
          </a:p>
          <a:p>
            <a:r>
              <a:rPr lang="en-US" b="1" dirty="0"/>
              <a:t>The Downside:</a:t>
            </a:r>
            <a:r>
              <a:rPr lang="en-US" dirty="0"/>
              <a:t> It is "stateful." If the </a:t>
            </a:r>
            <a:r>
              <a:rPr lang="en-US" dirty="0" err="1"/>
              <a:t>WiFi</a:t>
            </a:r>
            <a:r>
              <a:rPr lang="en-US" dirty="0"/>
              <a:t> flickers for a millisecond, the phone call drops, and you have to write complex code to "redial" and make sure no data was lost.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3. MQTT: The "Post Office" (Your Current Project)</a:t>
            </a:r>
          </a:p>
          <a:p>
            <a:r>
              <a:rPr lang="en-US" dirty="0"/>
              <a:t>MQTT is like a </a:t>
            </a:r>
            <a:r>
              <a:rPr lang="en-US" b="1" dirty="0"/>
              <a:t>Post Office with P.O. Boxes</a:t>
            </a:r>
            <a:r>
              <a:rPr lang="en-US" dirty="0"/>
              <a:t>. You (the Arduino) subscribe to a box called heater/commands. Whenever someone (the Node.js server) drops a letter in that box, the Post Office (</a:t>
            </a:r>
            <a:r>
              <a:rPr lang="en-US" dirty="0" err="1"/>
              <a:t>HiveMQ</a:t>
            </a:r>
            <a:r>
              <a:rPr lang="en-US" dirty="0"/>
              <a:t>) immediately runs to your house and delivers it.</a:t>
            </a:r>
          </a:p>
          <a:p>
            <a:r>
              <a:rPr lang="en-US" b="1" dirty="0"/>
              <a:t>The "LWT" Feature:</a:t>
            </a:r>
            <a:r>
              <a:rPr lang="en-US" dirty="0"/>
              <a:t> MQTT has a unique feature called </a:t>
            </a:r>
            <a:r>
              <a:rPr lang="en-US" b="1" dirty="0"/>
              <a:t>Last Will and Testament</a:t>
            </a:r>
            <a:r>
              <a:rPr lang="en-US" dirty="0"/>
              <a:t>. If your Arduino loses power, the Broker (</a:t>
            </a:r>
            <a:r>
              <a:rPr lang="en-US" dirty="0" err="1"/>
              <a:t>HiveMQ</a:t>
            </a:r>
            <a:r>
              <a:rPr lang="en-US" dirty="0"/>
              <a:t>) can automatically tell your server: "Hey, the Arduino just died!" HTTP and </a:t>
            </a:r>
            <a:r>
              <a:rPr lang="en-US" dirty="0" err="1"/>
              <a:t>WebSockets</a:t>
            </a:r>
            <a:r>
              <a:rPr lang="en-US" dirty="0"/>
              <a:t> cannot do this as easily.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Conclusion for an Engineer</a:t>
            </a:r>
            <a:r>
              <a:rPr lang="en-US" b="1" dirty="0"/>
              <a:t>:</a:t>
            </a:r>
            <a:r>
              <a:rPr lang="en-US" dirty="0"/>
              <a:t> If you are building a website, use </a:t>
            </a:r>
            <a:r>
              <a:rPr lang="en-US" b="1" dirty="0"/>
              <a:t>HTTP</a:t>
            </a:r>
            <a:r>
              <a:rPr lang="en-US" dirty="0"/>
              <a:t>. If you are building a high-speed trading bot, use </a:t>
            </a:r>
            <a:r>
              <a:rPr lang="en-US" b="1" dirty="0" err="1"/>
              <a:t>WebSockets</a:t>
            </a:r>
            <a:r>
              <a:rPr lang="en-US" dirty="0"/>
              <a:t>. Since you are building an </a:t>
            </a:r>
            <a:r>
              <a:rPr lang="en-US" b="1" dirty="0"/>
              <a:t>embedded hardware system (Heater)</a:t>
            </a:r>
            <a:r>
              <a:rPr lang="en-US" dirty="0"/>
              <a:t>, you have chosen the industry standard: </a:t>
            </a:r>
            <a:r>
              <a:rPr lang="en-US" b="1" dirty="0"/>
              <a:t>MQTT</a:t>
            </a:r>
            <a:r>
              <a:rPr lang="en-US" dirty="0"/>
              <a:t>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05051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9E527-BFF5-AEA3-DF73-A9B2517D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Implement</a:t>
            </a:r>
            <a:r>
              <a:rPr lang="fr-CH" dirty="0"/>
              <a:t> </a:t>
            </a:r>
            <a:r>
              <a:rPr lang="fr-CH" dirty="0" err="1"/>
              <a:t>two</a:t>
            </a:r>
            <a:r>
              <a:rPr lang="fr-CH" dirty="0"/>
              <a:t> </a:t>
            </a:r>
            <a:r>
              <a:rPr lang="fr-CH" dirty="0" err="1"/>
              <a:t>way</a:t>
            </a:r>
            <a:r>
              <a:rPr lang="fr-CH" dirty="0"/>
              <a:t> command 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2AFDC8-D180-D30F-1050-158A94C08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CH" b="1" dirty="0"/>
              <a:t>Arduino (</a:t>
            </a:r>
            <a:r>
              <a:rPr lang="fr-CH" b="1" dirty="0">
                <a:hlinkClick r:id="rId2" tooltip="c:\Arduino\000_HeaterProject\005_ProjectRTOS\src\DataToCloud.cpp"/>
              </a:rPr>
              <a:t>DataToCloud.cpp</a:t>
            </a:r>
            <a:r>
              <a:rPr lang="fr-CH" b="1" dirty="0"/>
              <a:t>, </a:t>
            </a:r>
            <a:r>
              <a:rPr lang="fr-CH" b="1" dirty="0" err="1">
                <a:hlinkClick r:id="rId3" tooltip="c:\Arduino\000_HeaterProject\005_ProjectRTOS\src\ProjectHeater.h"/>
              </a:rPr>
              <a:t>ProjectHeater.h</a:t>
            </a:r>
            <a:r>
              <a:rPr lang="fr-CH" b="1" dirty="0"/>
              <a:t>, </a:t>
            </a:r>
            <a:r>
              <a:rPr lang="fr-CH" b="1" dirty="0">
                <a:hlinkClick r:id="rId4" tooltip="c:\Arduino\000_HeaterProject\005_ProjectRTOS\src\main.cpp"/>
              </a:rPr>
              <a:t>main.cpp</a:t>
            </a:r>
            <a:r>
              <a:rPr lang="fr-CH" b="1" dirty="0"/>
              <a:t>):</a:t>
            </a:r>
            <a:endParaRPr lang="fr-CH" dirty="0"/>
          </a:p>
          <a:p>
            <a:pPr lvl="1"/>
            <a:r>
              <a:rPr lang="fr-CH" dirty="0" err="1"/>
              <a:t>Declare</a:t>
            </a:r>
            <a:r>
              <a:rPr lang="fr-CH" dirty="0"/>
              <a:t> global variables for </a:t>
            </a:r>
            <a:r>
              <a:rPr lang="fr-CH" dirty="0" err="1"/>
              <a:t>heaterState</a:t>
            </a:r>
            <a:r>
              <a:rPr lang="fr-CH" dirty="0"/>
              <a:t> and </a:t>
            </a:r>
            <a:r>
              <a:rPr lang="fr-CH" dirty="0" err="1"/>
              <a:t>targetWaterTemp</a:t>
            </a:r>
            <a:r>
              <a:rPr lang="fr-CH" dirty="0"/>
              <a:t>.</a:t>
            </a:r>
          </a:p>
          <a:p>
            <a:pPr lvl="1"/>
            <a:r>
              <a:rPr lang="fr-CH" dirty="0" err="1"/>
              <a:t>Subscribe</a:t>
            </a:r>
            <a:r>
              <a:rPr lang="fr-CH" dirty="0"/>
              <a:t> to a new MQTT topic for </a:t>
            </a:r>
            <a:r>
              <a:rPr lang="fr-CH" dirty="0" err="1"/>
              <a:t>incoming</a:t>
            </a:r>
            <a:r>
              <a:rPr lang="fr-CH" dirty="0"/>
              <a:t> </a:t>
            </a:r>
            <a:r>
              <a:rPr lang="fr-CH" dirty="0" err="1"/>
              <a:t>commands</a:t>
            </a:r>
            <a:r>
              <a:rPr lang="fr-CH" dirty="0"/>
              <a:t> (e.g., boilers/B1/</a:t>
            </a:r>
            <a:r>
              <a:rPr lang="fr-CH" dirty="0" err="1"/>
              <a:t>commands</a:t>
            </a:r>
            <a:r>
              <a:rPr lang="fr-CH" dirty="0"/>
              <a:t>).</a:t>
            </a:r>
          </a:p>
          <a:p>
            <a:pPr lvl="1"/>
            <a:r>
              <a:rPr lang="fr-CH" dirty="0" err="1"/>
              <a:t>Implement</a:t>
            </a:r>
            <a:r>
              <a:rPr lang="fr-CH" dirty="0"/>
              <a:t> an MQTT message callback </a:t>
            </a:r>
            <a:r>
              <a:rPr lang="fr-CH" dirty="0" err="1"/>
              <a:t>function</a:t>
            </a:r>
            <a:r>
              <a:rPr lang="fr-CH" dirty="0"/>
              <a:t> to parse </a:t>
            </a:r>
            <a:r>
              <a:rPr lang="fr-CH" dirty="0" err="1"/>
              <a:t>commands</a:t>
            </a:r>
            <a:r>
              <a:rPr lang="fr-CH" dirty="0"/>
              <a:t> (e.g., "</a:t>
            </a:r>
            <a:r>
              <a:rPr lang="fr-CH" dirty="0" err="1"/>
              <a:t>heater</a:t>
            </a:r>
            <a:r>
              <a:rPr lang="fr-CH" dirty="0"/>
              <a:t> on/off", "set </a:t>
            </a:r>
            <a:r>
              <a:rPr lang="fr-CH" dirty="0" err="1"/>
              <a:t>temperature</a:t>
            </a:r>
            <a:r>
              <a:rPr lang="fr-CH" dirty="0"/>
              <a:t>").</a:t>
            </a:r>
          </a:p>
          <a:p>
            <a:pPr lvl="1"/>
            <a:r>
              <a:rPr lang="fr-CH" dirty="0"/>
              <a:t>Update the </a:t>
            </a:r>
            <a:r>
              <a:rPr lang="fr-CH" dirty="0" err="1"/>
              <a:t>sendBoilerData</a:t>
            </a:r>
            <a:r>
              <a:rPr lang="fr-CH" dirty="0"/>
              <a:t> </a:t>
            </a:r>
            <a:r>
              <a:rPr lang="fr-CH" dirty="0" err="1"/>
              <a:t>function</a:t>
            </a:r>
            <a:r>
              <a:rPr lang="fr-CH" dirty="0"/>
              <a:t> to </a:t>
            </a:r>
            <a:r>
              <a:rPr lang="fr-CH" dirty="0" err="1"/>
              <a:t>include</a:t>
            </a:r>
            <a:r>
              <a:rPr lang="fr-CH" dirty="0"/>
              <a:t> the </a:t>
            </a:r>
            <a:r>
              <a:rPr lang="fr-CH" dirty="0" err="1"/>
              <a:t>current</a:t>
            </a:r>
            <a:r>
              <a:rPr lang="fr-CH" dirty="0"/>
              <a:t> </a:t>
            </a:r>
            <a:r>
              <a:rPr lang="fr-CH" dirty="0" err="1"/>
              <a:t>heaterState</a:t>
            </a:r>
            <a:r>
              <a:rPr lang="fr-CH" dirty="0"/>
              <a:t> and </a:t>
            </a:r>
            <a:r>
              <a:rPr lang="fr-CH" dirty="0" err="1"/>
              <a:t>targetWaterTemp</a:t>
            </a:r>
            <a:r>
              <a:rPr lang="fr-CH" dirty="0"/>
              <a:t> in the </a:t>
            </a:r>
            <a:r>
              <a:rPr lang="fr-CH" dirty="0" err="1"/>
              <a:t>status</a:t>
            </a:r>
            <a:r>
              <a:rPr lang="fr-CH" dirty="0"/>
              <a:t> messages sent to the cloud, </a:t>
            </a:r>
            <a:r>
              <a:rPr lang="fr-CH" dirty="0" err="1"/>
              <a:t>so</a:t>
            </a:r>
            <a:r>
              <a:rPr lang="fr-CH" dirty="0"/>
              <a:t> the UI can </a:t>
            </a:r>
            <a:r>
              <a:rPr lang="fr-CH" dirty="0" err="1"/>
              <a:t>reflect</a:t>
            </a:r>
            <a:r>
              <a:rPr lang="fr-CH" dirty="0"/>
              <a:t> the </a:t>
            </a:r>
            <a:r>
              <a:rPr lang="fr-CH" dirty="0" err="1"/>
              <a:t>actual</a:t>
            </a:r>
            <a:r>
              <a:rPr lang="fr-CH" dirty="0"/>
              <a:t> state.</a:t>
            </a:r>
          </a:p>
          <a:p>
            <a:r>
              <a:rPr lang="fr-CH" b="1" dirty="0"/>
              <a:t>Node.js Server (</a:t>
            </a:r>
            <a:r>
              <a:rPr lang="fr-CH" b="1" dirty="0">
                <a:hlinkClick r:id="rId5" tooltip="c:\Arduino\000_HeaterProject\005_ProjectRTOS\BoilerServerOnRTOS\index.js"/>
              </a:rPr>
              <a:t>index.js</a:t>
            </a:r>
            <a:r>
              <a:rPr lang="fr-CH" b="1" dirty="0"/>
              <a:t>):</a:t>
            </a:r>
            <a:endParaRPr lang="fr-CH" dirty="0"/>
          </a:p>
          <a:p>
            <a:pPr lvl="1"/>
            <a:r>
              <a:rPr lang="fr-CH" dirty="0"/>
              <a:t>Add a new Socket.io </a:t>
            </a:r>
            <a:r>
              <a:rPr lang="fr-CH" dirty="0" err="1"/>
              <a:t>event</a:t>
            </a:r>
            <a:r>
              <a:rPr lang="fr-CH" dirty="0"/>
              <a:t> </a:t>
            </a:r>
            <a:r>
              <a:rPr lang="fr-CH" dirty="0" err="1"/>
              <a:t>listener</a:t>
            </a:r>
            <a:r>
              <a:rPr lang="fr-CH" dirty="0"/>
              <a:t> (</a:t>
            </a:r>
            <a:r>
              <a:rPr lang="fr-CH" dirty="0" err="1"/>
              <a:t>socket.on</a:t>
            </a:r>
            <a:r>
              <a:rPr lang="fr-CH" dirty="0"/>
              <a:t>('</a:t>
            </a:r>
            <a:r>
              <a:rPr lang="fr-CH" dirty="0" err="1"/>
              <a:t>heaterCommand</a:t>
            </a:r>
            <a:r>
              <a:rPr lang="fr-CH" dirty="0"/>
              <a:t>', ...)) to </a:t>
            </a:r>
            <a:r>
              <a:rPr lang="fr-CH" dirty="0" err="1"/>
              <a:t>receive</a:t>
            </a:r>
            <a:r>
              <a:rPr lang="fr-CH" dirty="0"/>
              <a:t> </a:t>
            </a:r>
            <a:r>
              <a:rPr lang="fr-CH" dirty="0" err="1"/>
              <a:t>commands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the web UI.</a:t>
            </a:r>
          </a:p>
          <a:p>
            <a:pPr lvl="1"/>
            <a:r>
              <a:rPr lang="fr-CH" dirty="0" err="1"/>
              <a:t>When</a:t>
            </a:r>
            <a:r>
              <a:rPr lang="fr-CH" dirty="0"/>
              <a:t> a command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received</a:t>
            </a:r>
            <a:r>
              <a:rPr lang="fr-CH" dirty="0"/>
              <a:t>, </a:t>
            </a:r>
            <a:r>
              <a:rPr lang="fr-CH" dirty="0" err="1"/>
              <a:t>publish</a:t>
            </a:r>
            <a:r>
              <a:rPr lang="fr-CH" dirty="0"/>
              <a:t> </a:t>
            </a:r>
            <a:r>
              <a:rPr lang="fr-CH" dirty="0" err="1"/>
              <a:t>it</a:t>
            </a:r>
            <a:r>
              <a:rPr lang="fr-CH" dirty="0"/>
              <a:t> as an MQTT message to the </a:t>
            </a:r>
            <a:r>
              <a:rPr lang="fr-CH" dirty="0" err="1"/>
              <a:t>Arduino's</a:t>
            </a:r>
            <a:r>
              <a:rPr lang="fr-CH" dirty="0"/>
              <a:t> command topic.</a:t>
            </a:r>
          </a:p>
          <a:p>
            <a:r>
              <a:rPr lang="fr-CH" b="1" dirty="0"/>
              <a:t>Web UI (</a:t>
            </a:r>
            <a:r>
              <a:rPr lang="fr-CH" b="1" dirty="0">
                <a:hlinkClick r:id="rId6" tooltip="c:\Arduino\000_HeaterProject\005_ProjectRTOS\BoilerServerOnRTOS\public\index.html"/>
              </a:rPr>
              <a:t>index.html</a:t>
            </a:r>
            <a:r>
              <a:rPr lang="fr-CH" b="1" dirty="0"/>
              <a:t>):</a:t>
            </a:r>
            <a:endParaRPr lang="fr-CH" dirty="0"/>
          </a:p>
          <a:p>
            <a:pPr lvl="1"/>
            <a:r>
              <a:rPr lang="fr-CH" dirty="0"/>
              <a:t>Add new HTML </a:t>
            </a:r>
            <a:r>
              <a:rPr lang="fr-CH" dirty="0" err="1"/>
              <a:t>elements</a:t>
            </a:r>
            <a:r>
              <a:rPr lang="fr-CH" dirty="0"/>
              <a:t> (buttons, input </a:t>
            </a:r>
            <a:r>
              <a:rPr lang="fr-CH" dirty="0" err="1"/>
              <a:t>field</a:t>
            </a:r>
            <a:r>
              <a:rPr lang="fr-CH" dirty="0"/>
              <a:t>) for </a:t>
            </a:r>
            <a:r>
              <a:rPr lang="fr-CH" dirty="0" err="1"/>
              <a:t>controlling</a:t>
            </a:r>
            <a:r>
              <a:rPr lang="fr-CH" dirty="0"/>
              <a:t> the </a:t>
            </a:r>
            <a:r>
              <a:rPr lang="fr-CH" dirty="0" err="1"/>
              <a:t>heater</a:t>
            </a:r>
            <a:r>
              <a:rPr lang="fr-CH" dirty="0"/>
              <a:t>.</a:t>
            </a:r>
          </a:p>
          <a:p>
            <a:pPr lvl="1"/>
            <a:r>
              <a:rPr lang="fr-CH" dirty="0" err="1"/>
              <a:t>Implement</a:t>
            </a:r>
            <a:r>
              <a:rPr lang="fr-CH" dirty="0"/>
              <a:t> JavaScript </a:t>
            </a:r>
            <a:r>
              <a:rPr lang="fr-CH" dirty="0" err="1"/>
              <a:t>functions</a:t>
            </a:r>
            <a:r>
              <a:rPr lang="fr-CH" dirty="0"/>
              <a:t> to </a:t>
            </a:r>
            <a:r>
              <a:rPr lang="fr-CH" dirty="0" err="1"/>
              <a:t>emit</a:t>
            </a:r>
            <a:r>
              <a:rPr lang="fr-CH" dirty="0"/>
              <a:t> </a:t>
            </a:r>
            <a:r>
              <a:rPr lang="fr-CH" dirty="0" err="1"/>
              <a:t>heaterCommand</a:t>
            </a:r>
            <a:r>
              <a:rPr lang="fr-CH" dirty="0"/>
              <a:t> </a:t>
            </a:r>
            <a:r>
              <a:rPr lang="fr-CH" dirty="0" err="1"/>
              <a:t>events</a:t>
            </a:r>
            <a:r>
              <a:rPr lang="fr-CH" dirty="0"/>
              <a:t> to the Node.js server via Socket.io.</a:t>
            </a:r>
          </a:p>
          <a:p>
            <a:pPr lvl="1"/>
            <a:r>
              <a:rPr lang="fr-CH" dirty="0"/>
              <a:t>Update the </a:t>
            </a:r>
            <a:r>
              <a:rPr lang="fr-CH" dirty="0" err="1"/>
              <a:t>boilerUpdate</a:t>
            </a:r>
            <a:r>
              <a:rPr lang="fr-CH" dirty="0"/>
              <a:t> </a:t>
            </a:r>
            <a:r>
              <a:rPr lang="fr-CH" dirty="0" err="1"/>
              <a:t>listener</a:t>
            </a:r>
            <a:r>
              <a:rPr lang="fr-CH" dirty="0"/>
              <a:t> to display the </a:t>
            </a:r>
            <a:r>
              <a:rPr lang="fr-CH" dirty="0" err="1"/>
              <a:t>current</a:t>
            </a:r>
            <a:r>
              <a:rPr lang="fr-CH" dirty="0"/>
              <a:t> </a:t>
            </a:r>
            <a:r>
              <a:rPr lang="fr-CH" dirty="0" err="1"/>
              <a:t>heaterState</a:t>
            </a:r>
            <a:r>
              <a:rPr lang="fr-CH" dirty="0"/>
              <a:t> and </a:t>
            </a:r>
            <a:r>
              <a:rPr lang="fr-CH" dirty="0" err="1"/>
              <a:t>targetWaterTemp</a:t>
            </a:r>
            <a:r>
              <a:rPr lang="fr-CH" dirty="0"/>
              <a:t> </a:t>
            </a:r>
            <a:r>
              <a:rPr lang="fr-CH" dirty="0" err="1"/>
              <a:t>received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the Arduino.</a:t>
            </a:r>
          </a:p>
        </p:txBody>
      </p:sp>
    </p:spTree>
    <p:extLst>
      <p:ext uri="{BB962C8B-B14F-4D97-AF65-F5344CB8AC3E}">
        <p14:creationId xmlns:p14="http://schemas.microsoft.com/office/powerpoint/2010/main" val="938084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34274-2934-7C2C-1A43-46A9E1BF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Modification on </a:t>
            </a:r>
            <a:r>
              <a:rPr lang="fr-CH" dirty="0" err="1"/>
              <a:t>each</a:t>
            </a:r>
            <a:r>
              <a:rPr lang="fr-CH" dirty="0"/>
              <a:t> file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A47325-743E-3164-B7AD-D9AF83A6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fr-CH" b="1" dirty="0">
                <a:hlinkClick r:id="rId2" tooltip="c:\Arduino\000_HeaterProject\005_ProjectRTOS\BoilerServerOnRTOS\public\index.html"/>
              </a:rPr>
              <a:t>index.html</a:t>
            </a:r>
            <a:r>
              <a:rPr lang="fr-CH" b="1" dirty="0"/>
              <a:t> (Web User Interface)</a:t>
            </a:r>
          </a:p>
          <a:p>
            <a:r>
              <a:rPr lang="fr-CH" b="1" dirty="0"/>
              <a:t>Added Heater Control Section:</a:t>
            </a:r>
            <a:r>
              <a:rPr lang="fr-CH" dirty="0"/>
              <a:t> </a:t>
            </a:r>
            <a:r>
              <a:rPr lang="fr-CH" dirty="0" err="1"/>
              <a:t>Introduced</a:t>
            </a:r>
            <a:r>
              <a:rPr lang="fr-CH" dirty="0"/>
              <a:t> new UI </a:t>
            </a:r>
            <a:r>
              <a:rPr lang="fr-CH" dirty="0" err="1"/>
              <a:t>elements</a:t>
            </a:r>
            <a:r>
              <a:rPr lang="fr-CH" dirty="0"/>
              <a:t> (buttons, input </a:t>
            </a:r>
            <a:r>
              <a:rPr lang="fr-CH" dirty="0" err="1"/>
              <a:t>field</a:t>
            </a:r>
            <a:r>
              <a:rPr lang="fr-CH" dirty="0"/>
              <a:t>) for "Heater ON/OFF" and "Set Target Temp".</a:t>
            </a:r>
          </a:p>
          <a:p>
            <a:r>
              <a:rPr lang="fr-CH" b="1" dirty="0"/>
              <a:t>Command </a:t>
            </a:r>
            <a:r>
              <a:rPr lang="fr-CH" b="1" dirty="0" err="1"/>
              <a:t>Sending</a:t>
            </a:r>
            <a:r>
              <a:rPr lang="fr-CH" b="1" dirty="0"/>
              <a:t> Logic:</a:t>
            </a:r>
            <a:r>
              <a:rPr lang="fr-CH" dirty="0"/>
              <a:t> </a:t>
            </a:r>
            <a:r>
              <a:rPr lang="fr-CH" dirty="0" err="1"/>
              <a:t>Implemented</a:t>
            </a:r>
            <a:r>
              <a:rPr lang="fr-CH" dirty="0"/>
              <a:t> </a:t>
            </a:r>
            <a:r>
              <a:rPr lang="fr-CH" dirty="0" err="1"/>
              <a:t>sendHeaterCommand</a:t>
            </a:r>
            <a:r>
              <a:rPr lang="fr-CH" dirty="0"/>
              <a:t>() JavaScript </a:t>
            </a:r>
            <a:r>
              <a:rPr lang="fr-CH" dirty="0" err="1"/>
              <a:t>function</a:t>
            </a:r>
            <a:r>
              <a:rPr lang="fr-CH" dirty="0"/>
              <a:t> to capture user input and </a:t>
            </a:r>
            <a:r>
              <a:rPr lang="fr-CH" dirty="0" err="1"/>
              <a:t>emit</a:t>
            </a:r>
            <a:r>
              <a:rPr lang="fr-CH" dirty="0"/>
              <a:t> </a:t>
            </a:r>
            <a:r>
              <a:rPr lang="fr-CH" dirty="0" err="1"/>
              <a:t>heaterCommand</a:t>
            </a:r>
            <a:r>
              <a:rPr lang="fr-CH" dirty="0"/>
              <a:t> </a:t>
            </a:r>
            <a:r>
              <a:rPr lang="fr-CH" dirty="0" err="1"/>
              <a:t>events</a:t>
            </a:r>
            <a:r>
              <a:rPr lang="fr-CH" dirty="0"/>
              <a:t> via Socket.io to the Node.js server.</a:t>
            </a:r>
          </a:p>
          <a:p>
            <a:r>
              <a:rPr lang="fr-CH" b="1" dirty="0"/>
              <a:t>State Display Update:</a:t>
            </a:r>
            <a:r>
              <a:rPr lang="fr-CH" dirty="0"/>
              <a:t> </a:t>
            </a:r>
            <a:r>
              <a:rPr lang="fr-CH" dirty="0" err="1"/>
              <a:t>Modified</a:t>
            </a:r>
            <a:r>
              <a:rPr lang="fr-CH" dirty="0"/>
              <a:t> the </a:t>
            </a:r>
            <a:r>
              <a:rPr lang="fr-CH" dirty="0" err="1"/>
              <a:t>socket.on</a:t>
            </a:r>
            <a:r>
              <a:rPr lang="fr-CH" dirty="0"/>
              <a:t>('</a:t>
            </a:r>
            <a:r>
              <a:rPr lang="fr-CH" dirty="0" err="1"/>
              <a:t>boilerUpdate</a:t>
            </a:r>
            <a:r>
              <a:rPr lang="fr-CH" dirty="0"/>
              <a:t>') </a:t>
            </a:r>
            <a:r>
              <a:rPr lang="fr-CH" dirty="0" err="1"/>
              <a:t>listener</a:t>
            </a:r>
            <a:r>
              <a:rPr lang="fr-CH" dirty="0"/>
              <a:t> to display the </a:t>
            </a:r>
            <a:r>
              <a:rPr lang="fr-CH" dirty="0" err="1"/>
              <a:t>heaterState</a:t>
            </a:r>
            <a:r>
              <a:rPr lang="fr-CH" dirty="0"/>
              <a:t> and </a:t>
            </a:r>
            <a:r>
              <a:rPr lang="fr-CH" dirty="0" err="1"/>
              <a:t>targetWaterTemp</a:t>
            </a:r>
            <a:r>
              <a:rPr lang="fr-CH" dirty="0"/>
              <a:t> values </a:t>
            </a:r>
            <a:r>
              <a:rPr lang="fr-CH" dirty="0" err="1"/>
              <a:t>received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the Arduino.</a:t>
            </a:r>
          </a:p>
          <a:p>
            <a:pPr marL="0" indent="0">
              <a:buNone/>
            </a:pPr>
            <a:r>
              <a:rPr lang="fr-CH" b="1" dirty="0">
                <a:hlinkClick r:id="rId3" tooltip="c:\Arduino\000_HeaterProject\005_ProjectRTOS\BoilerServerOnRTOS\index.js"/>
              </a:rPr>
              <a:t>index.js</a:t>
            </a:r>
            <a:r>
              <a:rPr lang="fr-CH" b="1" dirty="0"/>
              <a:t> (Node.js Server Bridge)</a:t>
            </a:r>
          </a:p>
          <a:p>
            <a:r>
              <a:rPr lang="fr-CH" b="1" dirty="0"/>
              <a:t>Socket.io Command </a:t>
            </a:r>
            <a:r>
              <a:rPr lang="fr-CH" b="1" dirty="0" err="1"/>
              <a:t>Listener</a:t>
            </a:r>
            <a:r>
              <a:rPr lang="fr-CH" b="1" dirty="0"/>
              <a:t>:</a:t>
            </a:r>
            <a:r>
              <a:rPr lang="fr-CH" dirty="0"/>
              <a:t> Added a </a:t>
            </a:r>
            <a:r>
              <a:rPr lang="fr-CH" dirty="0" err="1"/>
              <a:t>socket.on</a:t>
            </a:r>
            <a:r>
              <a:rPr lang="fr-CH" dirty="0"/>
              <a:t>('</a:t>
            </a:r>
            <a:r>
              <a:rPr lang="fr-CH" dirty="0" err="1"/>
              <a:t>heaterCommand</a:t>
            </a:r>
            <a:r>
              <a:rPr lang="fr-CH" dirty="0"/>
              <a:t>') handler to </a:t>
            </a:r>
            <a:r>
              <a:rPr lang="fr-CH" dirty="0" err="1"/>
              <a:t>receive</a:t>
            </a:r>
            <a:r>
              <a:rPr lang="fr-CH" dirty="0"/>
              <a:t> </a:t>
            </a:r>
            <a:r>
              <a:rPr lang="fr-CH" dirty="0" err="1"/>
              <a:t>commands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the web UI.</a:t>
            </a:r>
          </a:p>
          <a:p>
            <a:r>
              <a:rPr lang="fr-CH" b="1" dirty="0"/>
              <a:t>MQTT Command </a:t>
            </a:r>
            <a:r>
              <a:rPr lang="fr-CH" b="1" dirty="0" err="1"/>
              <a:t>Publishing</a:t>
            </a:r>
            <a:r>
              <a:rPr lang="fr-CH" b="1" dirty="0"/>
              <a:t>:</a:t>
            </a:r>
            <a:r>
              <a:rPr lang="fr-CH" dirty="0"/>
              <a:t> </a:t>
            </a:r>
            <a:r>
              <a:rPr lang="fr-CH" dirty="0" err="1"/>
              <a:t>When</a:t>
            </a:r>
            <a:r>
              <a:rPr lang="fr-CH" dirty="0"/>
              <a:t> a </a:t>
            </a:r>
            <a:r>
              <a:rPr lang="fr-CH" dirty="0" err="1"/>
              <a:t>heaterCommand</a:t>
            </a:r>
            <a:r>
              <a:rPr lang="fr-CH" dirty="0"/>
              <a:t> 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received</a:t>
            </a:r>
            <a:r>
              <a:rPr lang="fr-CH" dirty="0"/>
              <a:t>, the server </a:t>
            </a:r>
            <a:r>
              <a:rPr lang="fr-CH" dirty="0" err="1"/>
              <a:t>now</a:t>
            </a:r>
            <a:r>
              <a:rPr lang="fr-CH" dirty="0"/>
              <a:t> </a:t>
            </a:r>
            <a:r>
              <a:rPr lang="fr-CH" dirty="0" err="1"/>
              <a:t>publishes</a:t>
            </a:r>
            <a:r>
              <a:rPr lang="fr-CH" dirty="0"/>
              <a:t> an MQTT message (e.g., {"command": "</a:t>
            </a:r>
            <a:r>
              <a:rPr lang="fr-CH" dirty="0" err="1"/>
              <a:t>heater</a:t>
            </a:r>
            <a:r>
              <a:rPr lang="fr-CH" dirty="0"/>
              <a:t>", "action": "on"}) to the </a:t>
            </a:r>
            <a:r>
              <a:rPr lang="fr-CH" dirty="0" err="1"/>
              <a:t>Arduino's</a:t>
            </a:r>
            <a:r>
              <a:rPr lang="fr-CH" dirty="0"/>
              <a:t> </a:t>
            </a:r>
            <a:r>
              <a:rPr lang="fr-CH" dirty="0" err="1"/>
              <a:t>dedicated</a:t>
            </a:r>
            <a:r>
              <a:rPr lang="fr-CH" dirty="0"/>
              <a:t> boilers/B1/</a:t>
            </a:r>
            <a:r>
              <a:rPr lang="fr-CH" dirty="0" err="1"/>
              <a:t>commands</a:t>
            </a:r>
            <a:r>
              <a:rPr lang="fr-CH" dirty="0"/>
              <a:t> topic.</a:t>
            </a:r>
          </a:p>
          <a:p>
            <a:r>
              <a:rPr lang="fr-CH" b="1" dirty="0" err="1"/>
              <a:t>Enhanced</a:t>
            </a:r>
            <a:r>
              <a:rPr lang="fr-CH" b="1" dirty="0"/>
              <a:t> </a:t>
            </a:r>
            <a:r>
              <a:rPr lang="fr-CH" b="1" dirty="0" err="1"/>
              <a:t>Logging</a:t>
            </a:r>
            <a:r>
              <a:rPr lang="fr-CH" b="1" dirty="0"/>
              <a:t>:</a:t>
            </a:r>
            <a:r>
              <a:rPr lang="fr-CH" dirty="0"/>
              <a:t> </a:t>
            </a:r>
            <a:r>
              <a:rPr lang="fr-CH" dirty="0" err="1"/>
              <a:t>Updated</a:t>
            </a:r>
            <a:r>
              <a:rPr lang="fr-CH" dirty="0"/>
              <a:t> console logs to </a:t>
            </a:r>
            <a:r>
              <a:rPr lang="fr-CH" dirty="0" err="1"/>
              <a:t>include</a:t>
            </a:r>
            <a:r>
              <a:rPr lang="fr-CH" dirty="0"/>
              <a:t> the </a:t>
            </a:r>
            <a:r>
              <a:rPr lang="fr-CH" dirty="0" err="1"/>
              <a:t>heaterState</a:t>
            </a:r>
            <a:r>
              <a:rPr lang="fr-CH" dirty="0"/>
              <a:t> and </a:t>
            </a:r>
            <a:r>
              <a:rPr lang="fr-CH" dirty="0" err="1"/>
              <a:t>targetWaterTemp</a:t>
            </a:r>
            <a:r>
              <a:rPr lang="fr-CH" dirty="0"/>
              <a:t> </a:t>
            </a:r>
            <a:r>
              <a:rPr lang="fr-CH" dirty="0" err="1"/>
              <a:t>from</a:t>
            </a:r>
            <a:r>
              <a:rPr lang="fr-CH" dirty="0"/>
              <a:t> </a:t>
            </a:r>
            <a:r>
              <a:rPr lang="fr-CH" dirty="0" err="1"/>
              <a:t>incoming</a:t>
            </a:r>
            <a:r>
              <a:rPr lang="fr-CH" dirty="0"/>
              <a:t> Arduino </a:t>
            </a:r>
            <a:r>
              <a:rPr lang="fr-CH" dirty="0" err="1"/>
              <a:t>status</a:t>
            </a:r>
            <a:r>
              <a:rPr lang="fr-CH" dirty="0"/>
              <a:t> messages.</a:t>
            </a:r>
          </a:p>
          <a:p>
            <a:pPr marL="0" indent="0">
              <a:buNone/>
            </a:pPr>
            <a:r>
              <a:rPr lang="fr-CH" b="1" dirty="0">
                <a:hlinkClick r:id="rId4" tooltip="c:\Arduino\000_HeaterProject\005_ProjectRTOS\src\DataToCloud.cpp"/>
              </a:rPr>
              <a:t>DataToCloud.cpp</a:t>
            </a:r>
            <a:r>
              <a:rPr lang="fr-CH" b="1" dirty="0"/>
              <a:t> (Arduino </a:t>
            </a:r>
            <a:r>
              <a:rPr lang="fr-CH" b="1" dirty="0" err="1"/>
              <a:t>Firmware</a:t>
            </a:r>
            <a:r>
              <a:rPr lang="fr-CH" b="1" dirty="0"/>
              <a:t>)</a:t>
            </a:r>
          </a:p>
          <a:p>
            <a:r>
              <a:rPr lang="fr-CH" b="1" dirty="0"/>
              <a:t>MQTT Command </a:t>
            </a:r>
            <a:r>
              <a:rPr lang="fr-CH" b="1" dirty="0" err="1"/>
              <a:t>Subscription</a:t>
            </a:r>
            <a:r>
              <a:rPr lang="fr-CH" b="1" dirty="0"/>
              <a:t>:</a:t>
            </a:r>
            <a:r>
              <a:rPr lang="fr-CH" dirty="0"/>
              <a:t> The Arduino </a:t>
            </a:r>
            <a:r>
              <a:rPr lang="fr-CH" dirty="0" err="1"/>
              <a:t>now</a:t>
            </a:r>
            <a:r>
              <a:rPr lang="fr-CH" dirty="0"/>
              <a:t> </a:t>
            </a:r>
            <a:r>
              <a:rPr lang="fr-CH" dirty="0" err="1"/>
              <a:t>subscribes</a:t>
            </a:r>
            <a:r>
              <a:rPr lang="fr-CH" dirty="0"/>
              <a:t> to the boilers/B1/</a:t>
            </a:r>
            <a:r>
              <a:rPr lang="fr-CH" dirty="0" err="1"/>
              <a:t>commands</a:t>
            </a:r>
            <a:r>
              <a:rPr lang="fr-CH" dirty="0"/>
              <a:t> MQTT topic to </a:t>
            </a:r>
            <a:r>
              <a:rPr lang="fr-CH" dirty="0" err="1"/>
              <a:t>listen</a:t>
            </a:r>
            <a:r>
              <a:rPr lang="fr-CH" dirty="0"/>
              <a:t> for </a:t>
            </a:r>
            <a:r>
              <a:rPr lang="fr-CH" dirty="0" err="1"/>
              <a:t>incoming</a:t>
            </a:r>
            <a:r>
              <a:rPr lang="fr-CH" dirty="0"/>
              <a:t> </a:t>
            </a:r>
            <a:r>
              <a:rPr lang="fr-CH" dirty="0" err="1"/>
              <a:t>commands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the server.</a:t>
            </a:r>
          </a:p>
          <a:p>
            <a:r>
              <a:rPr lang="fr-CH" b="1" dirty="0"/>
              <a:t>Message Callback (</a:t>
            </a:r>
            <a:r>
              <a:rPr lang="fr-CH" b="1" dirty="0" err="1"/>
              <a:t>onMqttMessageReceived</a:t>
            </a:r>
            <a:r>
              <a:rPr lang="fr-CH" b="1" dirty="0"/>
              <a:t>):</a:t>
            </a:r>
            <a:r>
              <a:rPr lang="fr-CH" dirty="0"/>
              <a:t> </a:t>
            </a:r>
            <a:r>
              <a:rPr lang="fr-CH" dirty="0" err="1"/>
              <a:t>Implemented</a:t>
            </a:r>
            <a:r>
              <a:rPr lang="fr-CH" dirty="0"/>
              <a:t> a </a:t>
            </a:r>
            <a:r>
              <a:rPr lang="fr-CH" dirty="0" err="1"/>
              <a:t>function</a:t>
            </a:r>
            <a:r>
              <a:rPr lang="fr-CH" dirty="0"/>
              <a:t> to parse </a:t>
            </a:r>
            <a:r>
              <a:rPr lang="fr-CH" dirty="0" err="1"/>
              <a:t>incoming</a:t>
            </a:r>
            <a:r>
              <a:rPr lang="fr-CH" dirty="0"/>
              <a:t> JSON </a:t>
            </a:r>
            <a:r>
              <a:rPr lang="fr-CH" dirty="0" err="1"/>
              <a:t>commands</a:t>
            </a:r>
            <a:r>
              <a:rPr lang="fr-CH" dirty="0"/>
              <a:t>. It updates the </a:t>
            </a:r>
            <a:r>
              <a:rPr lang="fr-CH" dirty="0" err="1"/>
              <a:t>internal</a:t>
            </a:r>
            <a:r>
              <a:rPr lang="fr-CH" dirty="0"/>
              <a:t> </a:t>
            </a:r>
            <a:r>
              <a:rPr lang="fr-CH" dirty="0" err="1"/>
              <a:t>heaterState</a:t>
            </a:r>
            <a:r>
              <a:rPr lang="fr-CH" dirty="0"/>
              <a:t> and </a:t>
            </a:r>
            <a:r>
              <a:rPr lang="fr-CH" dirty="0" err="1"/>
              <a:t>targetWaterTemp</a:t>
            </a:r>
            <a:r>
              <a:rPr lang="fr-CH" dirty="0"/>
              <a:t> variables </a:t>
            </a:r>
            <a:r>
              <a:rPr lang="fr-CH" dirty="0" err="1"/>
              <a:t>based</a:t>
            </a:r>
            <a:r>
              <a:rPr lang="fr-CH" dirty="0"/>
              <a:t> on the </a:t>
            </a:r>
            <a:r>
              <a:rPr lang="fr-CH" dirty="0" err="1"/>
              <a:t>received</a:t>
            </a:r>
            <a:r>
              <a:rPr lang="fr-CH" dirty="0"/>
              <a:t> command.</a:t>
            </a:r>
          </a:p>
          <a:p>
            <a:r>
              <a:rPr lang="fr-CH" b="1" dirty="0" err="1"/>
              <a:t>Immediate</a:t>
            </a:r>
            <a:r>
              <a:rPr lang="fr-CH" b="1" dirty="0"/>
              <a:t> Feedback:</a:t>
            </a:r>
            <a:r>
              <a:rPr lang="fr-CH" dirty="0"/>
              <a:t> </a:t>
            </a:r>
            <a:r>
              <a:rPr lang="fr-CH" dirty="0" err="1"/>
              <a:t>After</a:t>
            </a:r>
            <a:r>
              <a:rPr lang="fr-CH" dirty="0"/>
              <a:t> </a:t>
            </a:r>
            <a:r>
              <a:rPr lang="fr-CH" dirty="0" err="1"/>
              <a:t>processing</a:t>
            </a:r>
            <a:r>
              <a:rPr lang="fr-CH" dirty="0"/>
              <a:t> a command, </a:t>
            </a:r>
            <a:r>
              <a:rPr lang="fr-CH" dirty="0" err="1"/>
              <a:t>onMqttMessageReceived</a:t>
            </a:r>
            <a:r>
              <a:rPr lang="fr-CH" dirty="0"/>
              <a:t> </a:t>
            </a:r>
            <a:r>
              <a:rPr lang="fr-CH" i="1" dirty="0" err="1"/>
              <a:t>immediately</a:t>
            </a:r>
            <a:r>
              <a:rPr lang="fr-CH" i="1" dirty="0"/>
              <a:t> calls </a:t>
            </a:r>
            <a:r>
              <a:rPr lang="fr-CH" i="1" dirty="0" err="1"/>
              <a:t>sendBoilerData</a:t>
            </a:r>
            <a:r>
              <a:rPr lang="fr-CH" i="1" dirty="0"/>
              <a:t>()</a:t>
            </a:r>
            <a:r>
              <a:rPr lang="fr-CH" dirty="0"/>
              <a:t> to </a:t>
            </a:r>
            <a:r>
              <a:rPr lang="fr-CH" dirty="0" err="1"/>
              <a:t>publish</a:t>
            </a:r>
            <a:r>
              <a:rPr lang="fr-CH" dirty="0"/>
              <a:t> the </a:t>
            </a:r>
            <a:r>
              <a:rPr lang="fr-CH" dirty="0" err="1"/>
              <a:t>Arduino's</a:t>
            </a:r>
            <a:r>
              <a:rPr lang="fr-CH" dirty="0"/>
              <a:t> </a:t>
            </a:r>
            <a:r>
              <a:rPr lang="fr-CH" dirty="0" err="1"/>
              <a:t>updated</a:t>
            </a:r>
            <a:r>
              <a:rPr lang="fr-CH" dirty="0"/>
              <a:t> state back to the server, </a:t>
            </a:r>
            <a:r>
              <a:rPr lang="fr-CH" dirty="0" err="1"/>
              <a:t>ensuring</a:t>
            </a:r>
            <a:r>
              <a:rPr lang="fr-CH" dirty="0"/>
              <a:t> the UI </a:t>
            </a:r>
            <a:r>
              <a:rPr lang="fr-CH" dirty="0" err="1"/>
              <a:t>reflects</a:t>
            </a:r>
            <a:r>
              <a:rPr lang="fr-CH" dirty="0"/>
              <a:t> changes </a:t>
            </a:r>
            <a:r>
              <a:rPr lang="fr-CH" dirty="0" err="1"/>
              <a:t>without</a:t>
            </a:r>
            <a:r>
              <a:rPr lang="fr-CH" dirty="0"/>
              <a:t> </a:t>
            </a:r>
            <a:r>
              <a:rPr lang="fr-CH" dirty="0" err="1"/>
              <a:t>delay</a:t>
            </a:r>
            <a:r>
              <a:rPr lang="fr-CH" dirty="0"/>
              <a:t>.</a:t>
            </a:r>
          </a:p>
          <a:p>
            <a:r>
              <a:rPr lang="fr-CH" b="1" dirty="0" err="1"/>
              <a:t>Increased</a:t>
            </a:r>
            <a:r>
              <a:rPr lang="fr-CH" b="1" dirty="0"/>
              <a:t> </a:t>
            </a:r>
            <a:r>
              <a:rPr lang="fr-CH" b="1" dirty="0" err="1"/>
              <a:t>Responsiveness</a:t>
            </a:r>
            <a:r>
              <a:rPr lang="fr-CH" b="1" dirty="0"/>
              <a:t>:</a:t>
            </a:r>
            <a:r>
              <a:rPr lang="fr-CH" dirty="0"/>
              <a:t> The </a:t>
            </a:r>
            <a:r>
              <a:rPr lang="fr-CH" dirty="0" err="1"/>
              <a:t>TaskCloud</a:t>
            </a:r>
            <a:r>
              <a:rPr lang="fr-CH" dirty="0"/>
              <a:t> </a:t>
            </a:r>
            <a:r>
              <a:rPr lang="fr-CH" dirty="0" err="1"/>
              <a:t>loop</a:t>
            </a:r>
            <a:r>
              <a:rPr lang="fr-CH" dirty="0"/>
              <a:t> </a:t>
            </a:r>
            <a:r>
              <a:rPr lang="fr-CH" dirty="0" err="1"/>
              <a:t>now</a:t>
            </a:r>
            <a:r>
              <a:rPr lang="fr-CH" dirty="0"/>
              <a:t> </a:t>
            </a:r>
            <a:r>
              <a:rPr lang="fr-CH" dirty="0" err="1"/>
              <a:t>polls</a:t>
            </a:r>
            <a:r>
              <a:rPr lang="fr-CH" dirty="0"/>
              <a:t> for MQTT messages more </a:t>
            </a:r>
            <a:r>
              <a:rPr lang="fr-CH" dirty="0" err="1"/>
              <a:t>frequently</a:t>
            </a:r>
            <a:r>
              <a:rPr lang="fr-CH" dirty="0"/>
              <a:t> (</a:t>
            </a:r>
            <a:r>
              <a:rPr lang="fr-CH" dirty="0" err="1"/>
              <a:t>every</a:t>
            </a:r>
            <a:r>
              <a:rPr lang="fr-CH" dirty="0"/>
              <a:t> 100ms) to </a:t>
            </a:r>
            <a:r>
              <a:rPr lang="fr-CH" dirty="0" err="1"/>
              <a:t>quickly</a:t>
            </a:r>
            <a:r>
              <a:rPr lang="fr-CH" dirty="0"/>
              <a:t> </a:t>
            </a:r>
            <a:r>
              <a:rPr lang="fr-CH" dirty="0" err="1"/>
              <a:t>detect</a:t>
            </a:r>
            <a:r>
              <a:rPr lang="fr-CH" dirty="0"/>
              <a:t> and </a:t>
            </a:r>
            <a:r>
              <a:rPr lang="fr-CH" dirty="0" err="1"/>
              <a:t>act</a:t>
            </a:r>
            <a:r>
              <a:rPr lang="fr-CH" dirty="0"/>
              <a:t> on </a:t>
            </a:r>
            <a:r>
              <a:rPr lang="fr-CH" dirty="0" err="1"/>
              <a:t>incoming</a:t>
            </a:r>
            <a:r>
              <a:rPr lang="fr-CH" dirty="0"/>
              <a:t> </a:t>
            </a:r>
            <a:r>
              <a:rPr lang="fr-CH" dirty="0" err="1"/>
              <a:t>commands</a:t>
            </a:r>
            <a:r>
              <a:rPr lang="fr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7418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2FB59-13ED-1018-DE3B-F496ECE0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Connection &amp; Data Reliability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0F9CB7-C5E3-4D81-1B92-F7B282AF3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The "Wildcard" Subscription (Data Completeness)</a:t>
            </a:r>
            <a:endParaRPr lang="en-US" dirty="0"/>
          </a:p>
          <a:p>
            <a:r>
              <a:rPr lang="en-US" b="1" dirty="0"/>
              <a:t>The Problem:</a:t>
            </a:r>
            <a:r>
              <a:rPr lang="en-US" dirty="0"/>
              <a:t> Your Arduino sends different types of information on different sub-topics (e.g., .../status for connectivity and .../telemetry for sensors). Subscribing to a specific topic caused you to miss the sensor data.</a:t>
            </a:r>
          </a:p>
          <a:p>
            <a:r>
              <a:rPr lang="en-US" b="1" dirty="0"/>
              <a:t>The Fix:</a:t>
            </a:r>
            <a:r>
              <a:rPr lang="en-US" dirty="0"/>
              <a:t> Changed the subscription to boilers/B1/#.</a:t>
            </a:r>
          </a:p>
          <a:p>
            <a:r>
              <a:rPr lang="en-US" b="1" dirty="0"/>
              <a:t>Result:</a:t>
            </a:r>
            <a:r>
              <a:rPr lang="en-US" dirty="0"/>
              <a:t> The server now catches </a:t>
            </a:r>
            <a:r>
              <a:rPr lang="en-US" b="1" dirty="0"/>
              <a:t>every</a:t>
            </a:r>
            <a:r>
              <a:rPr lang="en-US" dirty="0"/>
              <a:t> message published under that branch, ensuring no telemetry is ignored.</a:t>
            </a:r>
          </a:p>
          <a:p>
            <a:pPr marL="0" indent="0">
              <a:buNone/>
            </a:pPr>
            <a:r>
              <a:rPr lang="en-US" b="1"/>
              <a:t>The </a:t>
            </a:r>
            <a:r>
              <a:rPr lang="en-US" b="1" dirty="0"/>
              <a:t>"Stale Data" Watchdog (Connection Integrity)</a:t>
            </a:r>
            <a:endParaRPr lang="en-US" dirty="0"/>
          </a:p>
          <a:p>
            <a:r>
              <a:rPr lang="en-US" b="1" dirty="0"/>
              <a:t>The Problem:</a:t>
            </a:r>
            <a:r>
              <a:rPr lang="en-US" dirty="0"/>
              <a:t> The MQTT "Last Will" only triggers if the Wi-Fi physically drops. If the Arduino code freezes or the sensor loop stops while Wi-Fi stays on, the UI would "ghost" (show old data as if it were current).</a:t>
            </a:r>
          </a:p>
          <a:p>
            <a:r>
              <a:rPr lang="en-US" b="1" dirty="0"/>
              <a:t>The Fix:</a:t>
            </a:r>
            <a:r>
              <a:rPr lang="en-US" dirty="0"/>
              <a:t> Added a </a:t>
            </a:r>
            <a:r>
              <a:rPr lang="en-US" dirty="0" err="1"/>
              <a:t>lastSeen</a:t>
            </a:r>
            <a:r>
              <a:rPr lang="en-US" dirty="0"/>
              <a:t> timestamp updated on every message and a </a:t>
            </a:r>
            <a:r>
              <a:rPr lang="en-US" dirty="0" err="1"/>
              <a:t>setInterval</a:t>
            </a:r>
            <a:r>
              <a:rPr lang="en-US" dirty="0"/>
              <a:t> watchdog.</a:t>
            </a:r>
          </a:p>
          <a:p>
            <a:r>
              <a:rPr lang="en-US" b="1" dirty="0"/>
              <a:t>Result:</a:t>
            </a:r>
            <a:r>
              <a:rPr lang="en-US" dirty="0"/>
              <a:t> If no messages arrive for 60 seconds, the server automatically marks the device as no-data and alerts the UI.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862233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3061</Words>
  <Application>Microsoft Office PowerPoint</Application>
  <PresentationFormat>Grand écran</PresentationFormat>
  <Paragraphs>201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Google Sans Text</vt:lpstr>
      <vt:lpstr>Thème Office</vt:lpstr>
      <vt:lpstr>HiveMQ Cloud</vt:lpstr>
      <vt:lpstr>High-Level System Architecture</vt:lpstr>
      <vt:lpstr>Communication &amp; Data Flow</vt:lpstr>
      <vt:lpstr>The Safety &amp; Fail-Safe Layer</vt:lpstr>
      <vt:lpstr>System Connection Status Check</vt:lpstr>
      <vt:lpstr>Goal: Establish a stable, zero-cost bridge between the Arduino R4 and your Node.js server.</vt:lpstr>
      <vt:lpstr>The "Envelope" Method: Instead of 20 separate messages, we will use JSON.</vt:lpstr>
      <vt:lpstr>Responsibility: Data collection and transmission.</vt:lpstr>
      <vt:lpstr>Responsibility: Data processing and distribution.</vt:lpstr>
      <vt:lpstr>Responsibility: Real-time visualization.</vt:lpstr>
      <vt:lpstr>Présentation PowerPoint</vt:lpstr>
      <vt:lpstr>Setting up HiveQM</vt:lpstr>
      <vt:lpstr>SSL client </vt:lpstr>
      <vt:lpstr>Internet layer</vt:lpstr>
      <vt:lpstr>Internet Protocols </vt:lpstr>
      <vt:lpstr>Présentation PowerPoint</vt:lpstr>
      <vt:lpstr>Implement two way command  </vt:lpstr>
      <vt:lpstr>Modification on each file </vt:lpstr>
      <vt:lpstr>Arduino Connection &amp; Data Reliability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Saab</dc:creator>
  <cp:lastModifiedBy>Ahmad Saab</cp:lastModifiedBy>
  <cp:revision>22</cp:revision>
  <dcterms:created xsi:type="dcterms:W3CDTF">2026-04-21T11:22:38Z</dcterms:created>
  <dcterms:modified xsi:type="dcterms:W3CDTF">2026-05-15T10:19:15Z</dcterms:modified>
</cp:coreProperties>
</file>