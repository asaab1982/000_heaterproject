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0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49CE62-6EF4-2E11-D33C-88FF8295F8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F538D45-7354-6897-F1EF-938C230D77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D1A14D4-701D-A655-FCD9-AD2ABE0F4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2CDC8-9586-48B1-AC7D-AFC15B5CF085}" type="datetimeFigureOut">
              <a:rPr lang="fr-CH" smtClean="0"/>
              <a:t>22.04.2026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F8A1AC4-F58B-1F25-1325-279ED22D6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FFFB654-DCF3-B61D-2C12-E190BF72D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D8D9A-4B4C-44C1-8FBB-AFC2198E38AE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7908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19B9AF-8ADF-F0BB-B6CF-4C37F1BBB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DDF2760-53AC-F783-E261-F88A991A07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2DC74DC-5BFA-6E79-2616-B020BD80F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2CDC8-9586-48B1-AC7D-AFC15B5CF085}" type="datetimeFigureOut">
              <a:rPr lang="fr-CH" smtClean="0"/>
              <a:t>22.04.2026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7B2C5D2-6B09-6E16-2048-06FF81112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F8E453C-A4D1-2B93-BF43-14D53FB22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D8D9A-4B4C-44C1-8FBB-AFC2198E38AE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407765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7411E8C-58D6-1E33-5449-7F8CAECF1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2CE4889-BB53-9763-5C61-7DDEBE6421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1B3B58D-B1CD-9403-6E08-3B5AA4E9F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2CDC8-9586-48B1-AC7D-AFC15B5CF085}" type="datetimeFigureOut">
              <a:rPr lang="fr-CH" smtClean="0"/>
              <a:t>22.04.2026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D8016AF-5C2B-87FA-98F3-311E3DB4A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391351B-AB1E-FE40-4C51-29449C485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D8D9A-4B4C-44C1-8FBB-AFC2198E38AE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5096462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478ECF-41E2-EC8D-5B59-3D779465C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541FF3D-B4CA-D8E1-71E9-B676CEF85C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7667C95-2C7E-2EBF-9C16-C1ACD50CE8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5D8368E-C610-28AE-9CA9-6A5A7CE31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2CDC8-9586-48B1-AC7D-AFC15B5CF085}" type="datetimeFigureOut">
              <a:rPr lang="fr-CH" smtClean="0"/>
              <a:t>22.04.2026</a:t>
            </a:fld>
            <a:endParaRPr lang="fr-CH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25D78AF-D93E-FA02-646F-F9643BDC5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D7B85A2-A75B-1A13-1868-51CBAC4B8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D8D9A-4B4C-44C1-8FBB-AFC2198E38AE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1273427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E0210E2-0A6D-E06A-BDF6-2DA471189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4C423D8-7454-672F-168F-C7DA7B0C52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078799A-DE71-5760-CE63-E1F50C79A0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3E2CFB0-DA06-FE2A-5FE2-3C0E020E71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F1A9E66C-754F-CE69-873F-7F7A51E88A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A2317B1-F493-D160-33A2-9686F7689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2CDC8-9586-48B1-AC7D-AFC15B5CF085}" type="datetimeFigureOut">
              <a:rPr lang="fr-CH" smtClean="0"/>
              <a:t>22.04.2026</a:t>
            </a:fld>
            <a:endParaRPr lang="fr-CH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CEF6C73-1452-26A4-C8B6-00333EE3C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27908694-B068-5BD0-755D-00DB71FD9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D8D9A-4B4C-44C1-8FBB-AFC2198E38AE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9830122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B4305E-114B-CD56-9E43-FB37D7C0A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CBCE9F7-980A-B0FD-7CF4-378F3AD32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2CDC8-9586-48B1-AC7D-AFC15B5CF085}" type="datetimeFigureOut">
              <a:rPr lang="fr-CH" smtClean="0"/>
              <a:t>22.04.2026</a:t>
            </a:fld>
            <a:endParaRPr lang="fr-CH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1E160DB-5DF8-F4FF-54BC-2B1073B0E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4FFE078-0EBB-5C74-3E60-49384AE21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D8D9A-4B4C-44C1-8FBB-AFC2198E38AE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95702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F92934D-9475-8A8A-1A53-980A9094B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2CDC8-9586-48B1-AC7D-AFC15B5CF085}" type="datetimeFigureOut">
              <a:rPr lang="fr-CH" smtClean="0"/>
              <a:t>22.04.2026</a:t>
            </a:fld>
            <a:endParaRPr lang="fr-CH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083B023-EC2F-4D80-8D30-4D6EEB704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7C5C812-47C2-099A-57CD-F33FD8186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D8D9A-4B4C-44C1-8FBB-AFC2198E38AE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349712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56FF09B-A7EF-82B4-7163-C00270172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6537D3B-EDF4-1CCB-8F64-F65C0911BD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AABE566-B0DA-433C-349A-D7E2CBE7FF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0C8779E-A685-422A-263B-7762872DE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2CDC8-9586-48B1-AC7D-AFC15B5CF085}" type="datetimeFigureOut">
              <a:rPr lang="fr-CH" smtClean="0"/>
              <a:t>22.04.2026</a:t>
            </a:fld>
            <a:endParaRPr lang="fr-CH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F40A7F5-D945-FF03-45C2-3D811E4CE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17A910D-1B94-FF21-403C-C814B622C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D8D9A-4B4C-44C1-8FBB-AFC2198E38AE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388967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F584175-CEC5-76D0-4B00-6013E7524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3B0CF841-C7A0-CD71-6352-92F861B476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H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45FF9C4-32E0-DB93-2E63-9DF49FCBB5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5062E82-BABA-AB39-4248-8BFBF2A86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2CDC8-9586-48B1-AC7D-AFC15B5CF085}" type="datetimeFigureOut">
              <a:rPr lang="fr-CH" smtClean="0"/>
              <a:t>22.04.2026</a:t>
            </a:fld>
            <a:endParaRPr lang="fr-CH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9D49FE2-EC66-092B-DEC2-5DEB071EA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9C8FE54-4539-0DCB-AC82-7E7C33E1A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D8D9A-4B4C-44C1-8FBB-AFC2198E38AE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0867291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A1B7294-7376-9C47-A8FA-54A78C005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712959E-6D93-2D84-51F0-D0B4A3D102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418B10D-F9CD-159A-F436-886568827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2CDC8-9586-48B1-AC7D-AFC15B5CF085}" type="datetimeFigureOut">
              <a:rPr lang="fr-CH" smtClean="0"/>
              <a:t>22.04.2026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60A6AE0-7F0F-FB11-30B0-37C9BB8B5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BCDC8D5-36EA-60CE-BDDF-2316AB79A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D8D9A-4B4C-44C1-8FBB-AFC2198E38AE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7347759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6935F626-18D9-9E70-BCCE-3C300A286B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2DE9E4D-5491-B7BB-F5F8-D8A8085D3B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705BEF3-BB11-E72F-A25A-3CFA41489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2CDC8-9586-48B1-AC7D-AFC15B5CF085}" type="datetimeFigureOut">
              <a:rPr lang="fr-CH" smtClean="0"/>
              <a:t>22.04.2026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A2318B6-FA2D-C934-3BC0-286D63924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B599B52-66FD-A619-5C68-17D9A4723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D8D9A-4B4C-44C1-8FBB-AFC2198E38AE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693159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1F35BB28-EA87-9943-C46F-32FDE80A9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1418765-FADB-1689-A4F6-D097806AF1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18559D8-D231-A7BA-8D95-2FF0DDD25F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42CDC8-9586-48B1-AC7D-AFC15B5CF085}" type="datetimeFigureOut">
              <a:rPr lang="fr-CH" smtClean="0"/>
              <a:t>22.04.2026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8CC820A-024E-734B-5269-37A21EE8DE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E159587-C563-148A-E929-5BBB6D8B4B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5D8D9A-4B4C-44C1-8FBB-AFC2198E38AE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079240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A7985C3-8A60-6933-D56D-E11F4506D8A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fr-CH" sz="7200" b="1" dirty="0" err="1"/>
              <a:t>HiveMQ</a:t>
            </a:r>
            <a:r>
              <a:rPr lang="fr-CH" sz="7200" b="1" dirty="0"/>
              <a:t> Cloud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11AEE72-9B4D-FBD5-C365-1B99877BDD2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fr-CH" sz="3600" b="1" dirty="0"/>
              <a:t>Arduino </a:t>
            </a:r>
            <a:r>
              <a:rPr lang="fr-CH" sz="3600" b="1" dirty="0" err="1"/>
              <a:t>Uno</a:t>
            </a:r>
            <a:r>
              <a:rPr lang="fr-CH" sz="3600" b="1" dirty="0"/>
              <a:t> R4 Wifi</a:t>
            </a:r>
          </a:p>
        </p:txBody>
      </p:sp>
    </p:spTree>
    <p:extLst>
      <p:ext uri="{BB962C8B-B14F-4D97-AF65-F5344CB8AC3E}">
        <p14:creationId xmlns:p14="http://schemas.microsoft.com/office/powerpoint/2010/main" val="39364010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0FD286A-5660-4084-6A84-F3F0B58FA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Goal:</a:t>
            </a:r>
            <a:r>
              <a:rPr lang="en-US" dirty="0"/>
              <a:t> Establish a stable, zero-cost bridge between the Arduino R4 and your Node.js server.</a:t>
            </a:r>
            <a:endParaRPr lang="fr-CH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4EC93EB-495B-A259-0EE2-0677E94ED47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477800"/>
            <a:ext cx="10515600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Protocol: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MQTT (Message Queuing 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Telemetry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Transport).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Platform: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HiveMQ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Cloud (Free Tier - up to 100 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devices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Security: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TLS 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encryption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(Port 8883) 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using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fr-FR" altLang="fr-FR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Username</a:t>
            </a:r>
            <a:r>
              <a:rPr kumimoji="0" lang="fr-FR" altLang="fr-FR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/</a:t>
            </a:r>
            <a:r>
              <a:rPr kumimoji="0" lang="fr-FR" altLang="fr-FR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Password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instead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of 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complex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X.509 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certificates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Benefit</a:t>
            </a:r>
            <a:r>
              <a:rPr kumimoji="0" lang="fr-FR" altLang="fr-FR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Zero-footprint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on R4 memory, 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faster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handshake, and no 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monthly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billing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336483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BAE7B82-E8CE-1087-63DF-BB859BABD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The "Envelope" Method:</a:t>
            </a:r>
            <a:r>
              <a:rPr lang="en-US" dirty="0"/>
              <a:t> Instead of 20 separate messages, we will use </a:t>
            </a:r>
            <a:r>
              <a:rPr lang="en-US" b="1" dirty="0"/>
              <a:t>JSON</a:t>
            </a:r>
            <a:r>
              <a:rPr lang="en-US" dirty="0"/>
              <a:t>.</a:t>
            </a:r>
            <a:endParaRPr lang="fr-CH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16C0ED6-EFAC-63DC-C0D4-D11C470868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477800"/>
            <a:ext cx="10591800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Payload</a:t>
            </a:r>
            <a:r>
              <a:rPr kumimoji="0" lang="fr-FR" altLang="fr-FR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 single JSON 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object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containing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all 20 variables.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Topic Structure: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boiler/main/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status</a:t>
            </a:r>
            <a:endParaRPr kumimoji="0" lang="fr-FR" altLang="fr-FR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Example </a:t>
            </a:r>
            <a:r>
              <a:rPr kumimoji="0" lang="fr-FR" altLang="fr-FR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Payload</a:t>
            </a:r>
            <a:r>
              <a:rPr kumimoji="0" lang="fr-FR" altLang="fr-FR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{"temp": 72.5, "pressure": 1.2, "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relay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": 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true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"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target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": 75.0, ...}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Efficiency</a:t>
            </a:r>
            <a:r>
              <a:rPr kumimoji="0" lang="fr-FR" altLang="fr-FR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Reduces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WiFi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"on-time" and 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prevents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the Arduino 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from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hanging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during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transmission.</a:t>
            </a:r>
          </a:p>
        </p:txBody>
      </p:sp>
    </p:spTree>
    <p:extLst>
      <p:ext uri="{BB962C8B-B14F-4D97-AF65-F5344CB8AC3E}">
        <p14:creationId xmlns:p14="http://schemas.microsoft.com/office/powerpoint/2010/main" val="6966839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E2845C-4964-82C4-FA15-496AB9D39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Responsibility:</a:t>
            </a:r>
            <a:r>
              <a:rPr lang="en-US" dirty="0"/>
              <a:t> Data collection and transmission.</a:t>
            </a:r>
            <a:endParaRPr lang="fr-CH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DBEBF8B-45A1-C0E5-2FF4-C7EDDB1CCE3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724022"/>
            <a:ext cx="10383078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Read: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Sample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20 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sensors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/variables 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every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30 seconds.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Pack: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Use the 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ArduinoJson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library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build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the "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Envelope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Ship</a:t>
            </a:r>
            <a:r>
              <a:rPr kumimoji="0" lang="fr-FR" altLang="fr-FR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Connect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via WiFiS3 and 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ArduinoMqttClient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HiveMQ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Safety</a:t>
            </a:r>
            <a:r>
              <a:rPr kumimoji="0" lang="fr-FR" altLang="fr-FR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If the 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connection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fails, the Arduino continues 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its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local 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heater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safety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logic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independently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Asynchronous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4437235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44D533-D40A-E950-C1BB-BBD6BC5DC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Responsibility:</a:t>
            </a:r>
            <a:r>
              <a:rPr lang="en-US" dirty="0"/>
              <a:t> Data processing and distribution.</a:t>
            </a:r>
            <a:endParaRPr lang="fr-CH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BE84882-69E1-3FC5-9F92-09C5991B1A5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85358"/>
            <a:ext cx="10919791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Listen</a:t>
            </a:r>
            <a:r>
              <a:rPr kumimoji="0" lang="fr-FR" altLang="fr-FR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Stay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permanently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connected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HiveMQ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via the 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mqtt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npm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package.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Unpack</a:t>
            </a:r>
            <a:r>
              <a:rPr kumimoji="0" lang="fr-FR" altLang="fr-FR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Receive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the JSON string and parse 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it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back 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into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 JavaScript 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object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Broadcast: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Use </a:t>
            </a:r>
            <a:r>
              <a:rPr kumimoji="0" lang="fr-FR" altLang="fr-FR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Socket.io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"push" the 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fresh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data to 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every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connected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HTML 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dashboard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instantly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Log: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Optional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Save the data to a local file or 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database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 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history</a:t>
            </a:r>
            <a:endParaRPr kumimoji="0" lang="fr-FR" altLang="fr-FR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0819569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B290586-CC3F-8D77-7F8F-A6A3639F7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b="1" dirty="0" err="1"/>
              <a:t>Responsibility</a:t>
            </a:r>
            <a:r>
              <a:rPr lang="fr-CH" b="1" dirty="0"/>
              <a:t>:</a:t>
            </a:r>
            <a:r>
              <a:rPr lang="fr-CH" dirty="0"/>
              <a:t> Real-time </a:t>
            </a:r>
            <a:r>
              <a:rPr lang="fr-CH" dirty="0" err="1"/>
              <a:t>visualization</a:t>
            </a:r>
            <a:r>
              <a:rPr lang="fr-CH" dirty="0"/>
              <a:t>.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18A2114-BE22-9151-FDF9-99B9D4D8724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254662"/>
            <a:ext cx="10333383" cy="3493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Socket Connection: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Open a "hotline" to 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your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local Node.js server.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Dynamic Update: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When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a message arrives, update the UI (gauges, charts, or 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text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) 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without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refreshing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User Input: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Send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"Target Temp" changes back up the 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chain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(HTML $\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rightarrow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$ Node.js $\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rightarrow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$ 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HiveMQ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$\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rightarrow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$ Arduino).</a:t>
            </a:r>
            <a:endParaRPr kumimoji="0" lang="fr-FR" altLang="fr-FR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47163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5288F9A-93F2-63F2-FC96-7DF8BDEBA4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1999" cy="696732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The Master Roadmap: From Arduino to Desktop App</a:t>
            </a:r>
          </a:p>
          <a:p>
            <a:pPr marL="0" indent="0">
              <a:buNone/>
            </a:pPr>
            <a:r>
              <a:rPr lang="en-US" b="1" dirty="0"/>
              <a:t>Phase 1: The Cloud "Switchboard" (</a:t>
            </a:r>
            <a:r>
              <a:rPr lang="en-US" b="1" dirty="0" err="1"/>
              <a:t>HiveMQ</a:t>
            </a:r>
            <a:r>
              <a:rPr lang="en-US" b="1" dirty="0"/>
              <a:t>)</a:t>
            </a:r>
          </a:p>
          <a:p>
            <a:pPr marL="457200" lvl="1" indent="0">
              <a:buNone/>
            </a:pPr>
            <a:r>
              <a:rPr lang="en-US" b="1" dirty="0"/>
              <a:t>Step 1:</a:t>
            </a:r>
            <a:r>
              <a:rPr lang="en-US" dirty="0"/>
              <a:t> Create the </a:t>
            </a:r>
            <a:r>
              <a:rPr lang="en-US" dirty="0" err="1"/>
              <a:t>HiveMQ</a:t>
            </a:r>
            <a:r>
              <a:rPr lang="en-US" dirty="0"/>
              <a:t> Free Cluster.</a:t>
            </a:r>
          </a:p>
          <a:p>
            <a:pPr marL="457200" lvl="1" indent="0">
              <a:buNone/>
            </a:pPr>
            <a:r>
              <a:rPr lang="en-US" b="1" dirty="0"/>
              <a:t>Step 2:</a:t>
            </a:r>
            <a:r>
              <a:rPr lang="en-US" dirty="0"/>
              <a:t> Define the </a:t>
            </a:r>
            <a:r>
              <a:rPr lang="en-US" b="1" dirty="0"/>
              <a:t>Multi-Boiler Topic Structure</a:t>
            </a:r>
            <a:r>
              <a:rPr lang="en-US" dirty="0"/>
              <a:t>: boilers/{{DEVICE_ID}}/status.</a:t>
            </a:r>
          </a:p>
          <a:p>
            <a:pPr marL="457200" lvl="1" indent="0">
              <a:buNone/>
            </a:pPr>
            <a:r>
              <a:rPr lang="en-US" b="1" dirty="0"/>
              <a:t>Step 3:</a:t>
            </a:r>
            <a:r>
              <a:rPr lang="en-US" dirty="0"/>
              <a:t> Generate secure credentials for the hardware and the server.</a:t>
            </a:r>
          </a:p>
          <a:p>
            <a:pPr marL="0" indent="0">
              <a:buNone/>
            </a:pPr>
            <a:r>
              <a:rPr lang="en-US" b="1" dirty="0"/>
              <a:t>Phase 2: The Hardware "Pulse" (Arduino R4)</a:t>
            </a:r>
          </a:p>
          <a:p>
            <a:pPr marL="457200" lvl="1" indent="0">
              <a:buNone/>
            </a:pPr>
            <a:r>
              <a:rPr lang="en-US" b="1" dirty="0"/>
              <a:t>Step 4:</a:t>
            </a:r>
            <a:r>
              <a:rPr lang="en-US" dirty="0"/>
              <a:t> Define a unique DEVICE_ID for each R4 (e.g., B1, B2).</a:t>
            </a:r>
          </a:p>
          <a:p>
            <a:pPr marL="457200" lvl="1" indent="0">
              <a:buNone/>
            </a:pPr>
            <a:r>
              <a:rPr lang="en-US" b="1" dirty="0"/>
              <a:t>Step 5:</a:t>
            </a:r>
            <a:r>
              <a:rPr lang="en-US" dirty="0"/>
              <a:t> Implement </a:t>
            </a:r>
            <a:r>
              <a:rPr lang="en-US" b="1" dirty="0"/>
              <a:t>JSON Bundling</a:t>
            </a:r>
            <a:r>
              <a:rPr lang="en-US" dirty="0"/>
              <a:t>: Pack all 20 variables into one message.</a:t>
            </a:r>
          </a:p>
          <a:p>
            <a:pPr marL="457200" lvl="1" indent="0">
              <a:buNone/>
            </a:pPr>
            <a:r>
              <a:rPr lang="en-US" b="1" dirty="0"/>
              <a:t>Step 6:</a:t>
            </a:r>
            <a:r>
              <a:rPr lang="en-US" dirty="0"/>
              <a:t> Asynchronous Publishing: Send data every 30 seconds without blocking the heater logic.</a:t>
            </a:r>
          </a:p>
          <a:p>
            <a:pPr marL="0" indent="0">
              <a:buNone/>
            </a:pPr>
            <a:r>
              <a:rPr lang="en-US" b="1" dirty="0"/>
              <a:t>Phase 3: The Local "Brain" (Node.js)</a:t>
            </a:r>
          </a:p>
          <a:p>
            <a:pPr marL="457200" lvl="1" indent="0">
              <a:buNone/>
            </a:pPr>
            <a:r>
              <a:rPr lang="en-US" b="1" dirty="0"/>
              <a:t>Step 7:</a:t>
            </a:r>
            <a:r>
              <a:rPr lang="en-US" dirty="0"/>
              <a:t> </a:t>
            </a:r>
            <a:r>
              <a:rPr lang="en-US" b="1" dirty="0"/>
              <a:t>The Wildcard Listener:</a:t>
            </a:r>
            <a:r>
              <a:rPr lang="en-US" dirty="0"/>
              <a:t> Set up Node.js to listen to boilers/+/status so it catches data from </a:t>
            </a:r>
            <a:r>
              <a:rPr lang="en-US" i="1" dirty="0"/>
              <a:t>all</a:t>
            </a:r>
            <a:r>
              <a:rPr lang="en-US" dirty="0"/>
              <a:t> connected boilers.</a:t>
            </a:r>
          </a:p>
          <a:p>
            <a:pPr marL="457200" lvl="1" indent="0">
              <a:buNone/>
            </a:pPr>
            <a:r>
              <a:rPr lang="en-US" b="1" dirty="0"/>
              <a:t>Step 8:</a:t>
            </a:r>
            <a:r>
              <a:rPr lang="en-US" dirty="0"/>
              <a:t> </a:t>
            </a:r>
            <a:r>
              <a:rPr lang="en-US" b="1" dirty="0"/>
              <a:t>Data Logging (Hard Drive):</a:t>
            </a:r>
            <a:r>
              <a:rPr lang="en-US" dirty="0"/>
              <a:t> Implement a local storage system (JSON or SQLite) to save every data point permanently to your laptop.</a:t>
            </a:r>
          </a:p>
          <a:p>
            <a:pPr marL="457200" lvl="1" indent="0">
              <a:buNone/>
            </a:pPr>
            <a:r>
              <a:rPr lang="en-US" b="1" dirty="0"/>
              <a:t>Step 9:</a:t>
            </a:r>
            <a:r>
              <a:rPr lang="en-US" dirty="0"/>
              <a:t> </a:t>
            </a:r>
            <a:r>
              <a:rPr lang="en-US" b="1" dirty="0"/>
              <a:t>Socket.io Bridge:</a:t>
            </a:r>
            <a:r>
              <a:rPr lang="en-US" dirty="0"/>
              <a:t> Stream the live data from Node.js to your HTML dashboard.</a:t>
            </a:r>
          </a:p>
          <a:p>
            <a:pPr marL="0" indent="0">
              <a:buNone/>
            </a:pPr>
            <a:r>
              <a:rPr lang="en-US" b="1" dirty="0"/>
              <a:t>Phase 4: The Final Product (The .exe Dashboard)</a:t>
            </a:r>
          </a:p>
          <a:p>
            <a:pPr marL="457200" lvl="1" indent="0">
              <a:buNone/>
            </a:pPr>
            <a:r>
              <a:rPr lang="en-US" b="1" dirty="0"/>
              <a:t>Step 10:</a:t>
            </a:r>
            <a:r>
              <a:rPr lang="en-US" dirty="0"/>
              <a:t> Build the </a:t>
            </a:r>
            <a:r>
              <a:rPr lang="en-US" b="1" dirty="0"/>
              <a:t>Multi-Card UI</a:t>
            </a:r>
            <a:r>
              <a:rPr lang="en-US" dirty="0"/>
              <a:t>: Design the dashboard to show a new status card automatically whenever a new Boiler ID appears.</a:t>
            </a:r>
          </a:p>
          <a:p>
            <a:pPr marL="457200" lvl="1" indent="0">
              <a:buNone/>
            </a:pPr>
            <a:r>
              <a:rPr lang="en-US" b="1" dirty="0"/>
              <a:t>Step 11:</a:t>
            </a:r>
            <a:r>
              <a:rPr lang="en-US" dirty="0"/>
              <a:t> </a:t>
            </a:r>
            <a:r>
              <a:rPr lang="en-US" b="1" dirty="0"/>
              <a:t>Electron Packaging:</a:t>
            </a:r>
            <a:r>
              <a:rPr lang="en-US" dirty="0"/>
              <a:t> Wrap the Node.js server and HTML into a portable .exe file.</a:t>
            </a:r>
          </a:p>
          <a:p>
            <a:pPr marL="457200" lvl="1" indent="0">
              <a:buNone/>
            </a:pPr>
            <a:r>
              <a:rPr lang="en-US" b="1" dirty="0"/>
              <a:t>Step 12:</a:t>
            </a:r>
            <a:r>
              <a:rPr lang="en-US" dirty="0"/>
              <a:t> Distribution: Test the .exe on a different computer/network to confirm it sees the boiler.</a:t>
            </a:r>
          </a:p>
        </p:txBody>
      </p:sp>
    </p:spTree>
    <p:extLst>
      <p:ext uri="{BB962C8B-B14F-4D97-AF65-F5344CB8AC3E}">
        <p14:creationId xmlns:p14="http://schemas.microsoft.com/office/powerpoint/2010/main" val="25240098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CFEC1A-8DB7-E99F-1774-D90EFCEA2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Setting up </a:t>
            </a:r>
            <a:r>
              <a:rPr lang="fr-CH" dirty="0" err="1"/>
              <a:t>HiveQM</a:t>
            </a:r>
            <a:endParaRPr lang="fr-CH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B6E26DD-5FCC-B218-7ED2-46953839F5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6762" y="1593632"/>
            <a:ext cx="4121426" cy="688975"/>
          </a:xfrm>
        </p:spPr>
        <p:txBody>
          <a:bodyPr>
            <a:normAutofit fontScale="85000" lnSpcReduction="20000"/>
          </a:bodyPr>
          <a:lstStyle/>
          <a:p>
            <a:r>
              <a:rPr lang="fr-CH" sz="1600" dirty="0" err="1"/>
              <a:t>Create</a:t>
            </a:r>
            <a:r>
              <a:rPr lang="fr-CH" sz="1600" dirty="0"/>
              <a:t> a </a:t>
            </a:r>
            <a:r>
              <a:rPr lang="fr-CH" sz="1600" dirty="0" err="1"/>
              <a:t>serverless</a:t>
            </a:r>
            <a:r>
              <a:rPr lang="fr-CH" sz="1600" dirty="0"/>
              <a:t> cluster </a:t>
            </a:r>
          </a:p>
          <a:p>
            <a:r>
              <a:rPr lang="pt-BR" sz="1600" dirty="0"/>
              <a:t>d72dc8b632b04c8c91c4702a5b164d59.s1.eu.hivemq.cloud: this is my link </a:t>
            </a:r>
            <a:endParaRPr lang="fr-CH" sz="160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43B2D85-3236-8133-3CB6-AF5465CD2C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1292"/>
          <a:stretch>
            <a:fillRect/>
          </a:stretch>
        </p:blipFill>
        <p:spPr>
          <a:xfrm>
            <a:off x="954569" y="2282607"/>
            <a:ext cx="4233657" cy="4068497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7FBA40BC-2765-FF30-4F0D-320B1F18DD41}"/>
              </a:ext>
            </a:extLst>
          </p:cNvPr>
          <p:cNvSpPr txBox="1"/>
          <p:nvPr/>
        </p:nvSpPr>
        <p:spPr>
          <a:xfrm>
            <a:off x="6616976" y="1088125"/>
            <a:ext cx="515095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/>
              <a:t>1. The Standard URL &amp; Port (8883)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What it is:</a:t>
            </a:r>
            <a:r>
              <a:rPr lang="en-US" sz="1400" dirty="0"/>
              <a:t> The "Professional Entrance."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Who uses it:</a:t>
            </a:r>
            <a:r>
              <a:rPr lang="en-US" sz="1400" dirty="0"/>
              <a:t> </a:t>
            </a:r>
            <a:r>
              <a:rPr lang="en-US" sz="1400" b="1" dirty="0"/>
              <a:t>Your Arduino R4.</a:t>
            </a: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Why:</a:t>
            </a:r>
            <a:r>
              <a:rPr lang="en-US" sz="1400" dirty="0"/>
              <a:t> Port </a:t>
            </a:r>
            <a:r>
              <a:rPr lang="en-US" sz="1400" b="1" dirty="0"/>
              <a:t>8883</a:t>
            </a:r>
            <a:r>
              <a:rPr lang="en-US" sz="1400" dirty="0"/>
              <a:t> is the industry standard for </a:t>
            </a:r>
            <a:r>
              <a:rPr lang="en-US" sz="1400" b="1" dirty="0"/>
              <a:t>Secure MQTT</a:t>
            </a:r>
            <a:r>
              <a:rPr lang="en-US" sz="1400" dirty="0"/>
              <a:t>. It uses </a:t>
            </a:r>
            <a:r>
              <a:rPr lang="en-US" sz="1400" b="1" dirty="0"/>
              <a:t>TLS (Transport Layer Security)</a:t>
            </a:r>
            <a:r>
              <a:rPr lang="en-US" sz="1400" dirty="0"/>
              <a:t>, which is the same encryption banks use. Since your Arduino is a dedicated hardware device, it speaks the "pure" MQTT language directly.</a:t>
            </a:r>
          </a:p>
          <a:p>
            <a:pPr>
              <a:buNone/>
            </a:pPr>
            <a:r>
              <a:rPr lang="en-US" sz="1400" b="1" dirty="0"/>
              <a:t>2. WebSocket Port (8884)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What it is:</a:t>
            </a:r>
            <a:r>
              <a:rPr lang="en-US" sz="1400" dirty="0"/>
              <a:t> The "Web Entrance."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Who uses it:</a:t>
            </a:r>
            <a:r>
              <a:rPr lang="en-US" sz="1400" dirty="0"/>
              <a:t> </a:t>
            </a:r>
            <a:r>
              <a:rPr lang="en-US" sz="1400" b="1" dirty="0"/>
              <a:t>Your Browser / Dashboard.</a:t>
            </a: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Why:</a:t>
            </a:r>
            <a:r>
              <a:rPr lang="en-US" sz="1400" dirty="0"/>
              <a:t> Standard browsers (like Chrome or Safari) are "allergic" to pure MQTT; they only like to speak Web languages. The WebSocket port wraps the MQTT data inside a web-friendly package. You’ll use this when you want your HTML page to show live data without going through a server.</a:t>
            </a:r>
          </a:p>
          <a:p>
            <a:pPr>
              <a:buNone/>
            </a:pPr>
            <a:r>
              <a:rPr lang="en-US" sz="1400" b="1" dirty="0"/>
              <a:t>3. TLS MQTT URL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What it is:</a:t>
            </a:r>
            <a:r>
              <a:rPr lang="en-US" sz="1400" dirty="0"/>
              <a:t> Just a combined version of #1.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Note:</a:t>
            </a:r>
            <a:r>
              <a:rPr lang="en-US" sz="1400" dirty="0"/>
              <a:t> It’s exactly the same as the first URL, just with :8883 added to the end. Most code libraries ask for the "Host" and the "Port" separately, but some want the whole string.</a:t>
            </a:r>
          </a:p>
          <a:p>
            <a:pPr>
              <a:buNone/>
            </a:pPr>
            <a:r>
              <a:rPr lang="en-US" sz="1400" b="1" dirty="0"/>
              <a:t>4. TLS WebSocket URL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What it is:</a:t>
            </a:r>
            <a:r>
              <a:rPr lang="en-US" sz="1400" dirty="0"/>
              <a:t> The full address for web-based tools.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Note:</a:t>
            </a:r>
            <a:r>
              <a:rPr lang="en-US" sz="1400" dirty="0"/>
              <a:t> Notice the /</a:t>
            </a:r>
            <a:r>
              <a:rPr lang="en-US" sz="1400" dirty="0" err="1"/>
              <a:t>mqtt</a:t>
            </a:r>
            <a:r>
              <a:rPr lang="en-US" sz="1400" dirty="0"/>
              <a:t> at the end. This is the specific "path" a website follows to find the data stream.</a:t>
            </a:r>
          </a:p>
        </p:txBody>
      </p:sp>
    </p:spTree>
    <p:extLst>
      <p:ext uri="{BB962C8B-B14F-4D97-AF65-F5344CB8AC3E}">
        <p14:creationId xmlns:p14="http://schemas.microsoft.com/office/powerpoint/2010/main" val="64089767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934</Words>
  <Application>Microsoft Office PowerPoint</Application>
  <PresentationFormat>Grand écran</PresentationFormat>
  <Paragraphs>60</Paragraphs>
  <Slides>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Google Sans Text</vt:lpstr>
      <vt:lpstr>Thème Office</vt:lpstr>
      <vt:lpstr>HiveMQ Cloud</vt:lpstr>
      <vt:lpstr>Goal: Establish a stable, zero-cost bridge between the Arduino R4 and your Node.js server.</vt:lpstr>
      <vt:lpstr>The "Envelope" Method: Instead of 20 separate messages, we will use JSON.</vt:lpstr>
      <vt:lpstr>Responsibility: Data collection and transmission.</vt:lpstr>
      <vt:lpstr>Responsibility: Data processing and distribution.</vt:lpstr>
      <vt:lpstr>Responsibility: Real-time visualization.</vt:lpstr>
      <vt:lpstr>Présentation PowerPoint</vt:lpstr>
      <vt:lpstr>Setting up HiveQM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Ahmad Saab</dc:creator>
  <cp:lastModifiedBy>Ahmad Saab</cp:lastModifiedBy>
  <cp:revision>9</cp:revision>
  <dcterms:created xsi:type="dcterms:W3CDTF">2026-04-21T11:22:38Z</dcterms:created>
  <dcterms:modified xsi:type="dcterms:W3CDTF">2026-04-22T07:16:43Z</dcterms:modified>
</cp:coreProperties>
</file>